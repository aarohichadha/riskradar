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a4938c06e224ac1" /><Relationship Type="http://schemas.openxmlformats.org/officeDocument/2006/relationships/extended-properties" Target="/docProps/app.xml" Id="Rbe4d0a56dafa4af9" /><Relationship Type="http://schemas.openxmlformats.org/officeDocument/2006/relationships/officeDocument" Target="/ppt/presentation.xml" Id="R091c736a2bf244ba" /></Relationships>
</file>

<file path=ppt/presentation.xml><?xml version="1.0" encoding="utf-8"?>
<p:presentation xmlns:p="http://schemas.openxmlformats.org/presentationml/2006/main">
  <p:sldMasterIdLst>
    <p:sldMasterId xmlns:r="http://schemas.openxmlformats.org/officeDocument/2006/relationships" id="2147483648" r:id="R1577e2e1990a4f7f"/>
  </p:sldMasterIdLst>
  <p:notesMasterIdLst>
    <p:notesMasterId xmlns:r="http://schemas.openxmlformats.org/officeDocument/2006/relationships" r:id="R4f1c15193fc34245"/>
  </p:notesMasterIdLst>
  <p:sldIdLst>
    <p:sldId xmlns:r="http://schemas.openxmlformats.org/officeDocument/2006/relationships" id="256" r:id="Rce3d7edc974b4c74"/>
    <p:sldId xmlns:r="http://schemas.openxmlformats.org/officeDocument/2006/relationships" id="257" r:id="R7766b43b741843a8"/>
    <p:sldId xmlns:r="http://schemas.openxmlformats.org/officeDocument/2006/relationships" id="258" r:id="R50f027f1f32246f0"/>
    <p:sldId xmlns:r="http://schemas.openxmlformats.org/officeDocument/2006/relationships" id="259" r:id="Rfb2a70e5ca804c7a"/>
    <p:sldId xmlns:r="http://schemas.openxmlformats.org/officeDocument/2006/relationships" id="260" r:id="R7ef4181d6a5e4b54"/>
    <p:sldId xmlns:r="http://schemas.openxmlformats.org/officeDocument/2006/relationships" id="261" r:id="Rbc3c5b90540c42cf"/>
    <p:sldId xmlns:r="http://schemas.openxmlformats.org/officeDocument/2006/relationships" id="262" r:id="Rc1b933a49a5a4de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9bd167626e4203" /><Relationship Type="http://schemas.openxmlformats.org/officeDocument/2006/relationships/slideMaster" Target="/ppt/slideMasters/slideMaster1.xml" Id="R1577e2e1990a4f7f" /><Relationship Type="http://schemas.openxmlformats.org/officeDocument/2006/relationships/notesMaster" Target="/ppt/notesMasters/notesMaster1.xml" Id="R4f1c15193fc34245" /><Relationship Type="http://schemas.openxmlformats.org/officeDocument/2006/relationships/presProps" Target="/ppt/presProps.xml" Id="R6b3918081b684c70" /><Relationship Type="http://schemas.openxmlformats.org/officeDocument/2006/relationships/tableStyles" Target="/ppt/tableStyles.xml" Id="Rf88827fbf509467d" /><Relationship Type="http://schemas.openxmlformats.org/officeDocument/2006/relationships/slide" Target="/ppt/slides/slide1.xml" Id="Rce3d7edc974b4c74" /><Relationship Type="http://schemas.openxmlformats.org/officeDocument/2006/relationships/slide" Target="/ppt/slides/slide2.xml" Id="R7766b43b741843a8" /><Relationship Type="http://schemas.openxmlformats.org/officeDocument/2006/relationships/slide" Target="/ppt/slides/slide3.xml" Id="R50f027f1f32246f0" /><Relationship Type="http://schemas.openxmlformats.org/officeDocument/2006/relationships/slide" Target="/ppt/slides/slide4.xml" Id="Rfb2a70e5ca804c7a" /><Relationship Type="http://schemas.openxmlformats.org/officeDocument/2006/relationships/slide" Target="/ppt/slides/slide5.xml" Id="R7ef4181d6a5e4b54" /><Relationship Type="http://schemas.openxmlformats.org/officeDocument/2006/relationships/slide" Target="/ppt/slides/slide6.xml" Id="Rbc3c5b90540c42cf" /><Relationship Type="http://schemas.openxmlformats.org/officeDocument/2006/relationships/slide" Target="/ppt/slides/slide7.xml" Id="Rc1b933a49a5a4d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7ce87c336143a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37065af5fa402e" /><Relationship Type="http://schemas.openxmlformats.org/officeDocument/2006/relationships/notesMaster" Target="/ppt/notesMasters/notesMaster1.xml" Id="R7f8d2b718c2740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e8e9eee6454504" /><Relationship Type="http://schemas.openxmlformats.org/officeDocument/2006/relationships/notesMaster" Target="/ppt/notesMasters/notesMaster1.xml" Id="Re18e015f9106404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f72d58e5454bb1" /><Relationship Type="http://schemas.openxmlformats.org/officeDocument/2006/relationships/notesMaster" Target="/ppt/notesMasters/notesMaster1.xml" Id="R64b7e63bcb9e44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41f58853a05478c" /><Relationship Type="http://schemas.openxmlformats.org/officeDocument/2006/relationships/notesMaster" Target="/ppt/notesMasters/notesMaster1.xml" Id="Red453911702e46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da95ee91e04712" /><Relationship Type="http://schemas.openxmlformats.org/officeDocument/2006/relationships/notesMaster" Target="/ppt/notesMasters/notesMaster1.xml" Id="R775ab9a0a7694f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c3e44543df540b1" /><Relationship Type="http://schemas.openxmlformats.org/officeDocument/2006/relationships/notesMaster" Target="/ppt/notesMasters/notesMaster1.xml" Id="R0934f100b6ea45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8a03259f674232" /><Relationship Type="http://schemas.openxmlformats.org/officeDocument/2006/relationships/notesMaster" Target="/ppt/notesMasters/notesMaster1.xml" Id="R47b9aba246e54e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Working prototype built for the provided case study. Real financial text trains sentiment. Own synthetic holdings, shocks and replay inputs demonstrate downstream behavior. No trading performance or calibrated market-impact prediction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Fixed allowlisted RSS connectors; bounded responses, 15-second timeout, 60-second cache. Browser inference and Python inference share exported logistic-regression parameters. Hosted API has no visitor persistence; local server uses SQLite. Both sources were fetched successfully during development. Source links are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https://huggingface.co/datasets/zeroshot/twitter-financial-news-sentiment revision ccbe24de388e287beb92dd393a335c376b350ac3. Downloaded original train 9543, validation 2388; 55 canonical overlaps removed from evaluation. C=4, max 16000 features, random_state=42. No evaluation-set hyperparameter tuning. Publisher card reports MIT; source texts are not redistributed. Evaluation is not temporal or entity-disjoint and measures only sentiment, not impact or investment outcomes. See docs/DATASET.md and data/evaluation.json.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war replay text is synthetic, not a real news claim. Impact and event classification use transparent keyword rules; they are not trained or validated market-impact forecasts. Probabilities are not calibrated confidence. A low-confidence flag is shown below 0.55 maximum class probability. Company alias matching is intentionally simple. Outputs are available via API and JSON exports.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Own synthetic portfolio: $4m loan, $3m bond, $2m equity and $1m derivative. Geopolitical shock: equity -10%, rates +2 percentage points, spread +1.5 percentage points. Loan duration/spread duration 2/2; bond 5/4; equity beta 1; derivative rate sensitivity -$3m per unit rate move. Simplified linear scenario; no historical calibration. Loan 280k, bond 480k, equity 200k, derivative 60k.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Own illustrative ticker basket; current index membership is not asserted. Replay final weights shown. Positive sentiment increases raw weight, negative decreases it, then weights normalize across the basket. GLOBAL events do not change company weights. No trades, transaction costs, market price backtest or outperformance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Submission consists of public source repository, functional live demonstration no longer than 5 minutes, and this 7-slide presentation. docs/DEMO.md contains the demonstration sequence. Real trained sentiment data and own synthetic scenario data are documented separately. All shown results are reproducible; tests validate implementation, not predictive investment success. The separate organizer submission-guidelines document was not provided in full, so any additional packaging instructions must be checked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97114d5ce4462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ec6e1fe5b984aa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3bb1be70b95476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fd73c1a78ab4b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7846407bad04f3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92afb0fa9b148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D915B1-25A9-446D-A31A-40F0E4C8B4C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CBC50DA-A00F-4B58-B995-11826FD2B84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F7499E-18D3-4330-9BBF-A9472941BAA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E4BBEF-ED45-4FE8-AC15-B577873052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F09EF42-58EC-417A-BB2A-7A558720298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CC01645-2096-436D-9974-6CE4904E5B5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C1E0CC-D387-476C-936B-FC3A6EB8F8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73A2D21-FF69-4DF8-BE6F-0C905D59397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BA23A5-E0C7-418A-9953-35BF1C4B49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0D8D164-F93E-4605-B0EC-65C6BADDEBB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207e1b3c4f445ab" /><Relationship Type="http://schemas.openxmlformats.org/officeDocument/2006/relationships/slideLayout" Target="/ppt/slideLayouts/slideLayout1.xml" Id="Rdc8aab095aa04eb1" /><Relationship Type="http://schemas.openxmlformats.org/officeDocument/2006/relationships/slideLayout" Target="/ppt/slideLayouts/slideLayout2.xml" Id="R67e61f20fb2141eb" /><Relationship Type="http://schemas.openxmlformats.org/officeDocument/2006/relationships/slideLayout" Target="/ppt/slideLayouts/slideLayout3.xml" Id="Rc51a3df087534061" /><Relationship Type="http://schemas.openxmlformats.org/officeDocument/2006/relationships/slideLayout" Target="/ppt/slideLayouts/slideLayout4.xml" Id="R8ed1894533944004" /><Relationship Type="http://schemas.openxmlformats.org/officeDocument/2006/relationships/slideLayout" Target="/ppt/slideLayouts/slideLayout5.xml" Id="R4d55112605fd41eb" /><Relationship Type="http://schemas.openxmlformats.org/officeDocument/2006/relationships/slideLayout" Target="/ppt/slideLayouts/slideLayout6.xml" Id="R709be89fef214d9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8aab095aa04eb1"/>
    <p:sldLayoutId xmlns:r="http://schemas.openxmlformats.org/officeDocument/2006/relationships" id="2147483650" r:id="R67e61f20fb2141eb"/>
    <p:sldLayoutId xmlns:r="http://schemas.openxmlformats.org/officeDocument/2006/relationships" id="2147483651" r:id="Rc51a3df087534061"/>
    <p:sldLayoutId xmlns:r="http://schemas.openxmlformats.org/officeDocument/2006/relationships" id="2147483652" r:id="R8ed1894533944004"/>
    <p:sldLayoutId xmlns:r="http://schemas.openxmlformats.org/officeDocument/2006/relationships" id="2147483653" r:id="R4d55112605fd41eb"/>
    <p:sldLayoutId xmlns:r="http://schemas.openxmlformats.org/officeDocument/2006/relationships" id="2147483654" r:id="R709be89fef214d9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94cd7f1035e4abc" /><Relationship Type="http://schemas.openxmlformats.org/officeDocument/2006/relationships/notesSlide" Target="/ppt/notesSlides/notesSlide1.xml" Id="R814f6472232145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12cc440526f4b70" /><Relationship Type="http://schemas.openxmlformats.org/officeDocument/2006/relationships/notesSlide" Target="/ppt/notesSlides/notesSlide2.xml" Id="Rb8909e02c23944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09aeba976e4abb" /><Relationship Type="http://schemas.openxmlformats.org/officeDocument/2006/relationships/notesSlide" Target="/ppt/notesSlides/notesSlide3.xml" Id="R9cad99477a954d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beb889903c8423c" /><Relationship Type="http://schemas.openxmlformats.org/officeDocument/2006/relationships/notesSlide" Target="/ppt/notesSlides/notesSlide4.xml" Id="Rb292253d1cb54e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67d814aeb964f8a" /><Relationship Type="http://schemas.openxmlformats.org/officeDocument/2006/relationships/chart" Target="/ppt/slides/charts/chart1.xml" Id="R935b01ad284a43c4" /><Relationship Type="http://schemas.openxmlformats.org/officeDocument/2006/relationships/notesSlide" Target="/ppt/notesSlides/notesSlide5.xml" Id="R8b3b4a21812443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aa2a3a650704382" /><Relationship Type="http://schemas.openxmlformats.org/officeDocument/2006/relationships/chart" Target="/ppt/slides/charts/chart2.xml" Id="R17229f779e3741b5" /><Relationship Type="http://schemas.openxmlformats.org/officeDocument/2006/relationships/notesSlide" Target="/ppt/notesSlides/notesSlide6.xml" Id="Rd85bf90c66bb4c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91d4bfd0cef4555" /><Relationship Type="http://schemas.openxmlformats.org/officeDocument/2006/relationships/notesSlide" Target="/ppt/notesSlides/notesSlide7.xml" Id="R59d87014e77c443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Loss ($ thousands)</c:v>
          </c:tx>
          <c:spPr>
            <a:solidFill xmlns:a="http://schemas.openxmlformats.org/drawingml/2006/main">
              <a:srgbClr val="067B70"/>
            </a:solidFill>
          </c:spPr>
          <c:cat>
            <c:strRef>
              <c:f>'Chart Data'!$A$2:$A$5</c:f>
              <c:strCache>
                <c:ptCount val="4"/>
                <c:pt idx="0">
                  <c:v>Loan</c:v>
                </c:pt>
                <c:pt idx="1">
                  <c:v>Bond</c:v>
                </c:pt>
                <c:pt idx="2">
                  <c:v>Equity</c:v>
                </c:pt>
                <c:pt idx="3">
                  <c:v>Derivative</c:v>
                </c:pt>
              </c:strCache>
            </c:strRef>
          </c:cat>
          <c:val>
            <c:numRef>
              <c:f>'Chart Data'!$B$2:$B$5</c:f>
              <c:numCache>
                <c:formatCode>General</c:formatCode>
                <c:ptCount val="4"/>
                <c:pt idx="0">
                  <c:v>280</c:v>
                </c:pt>
                <c:pt idx="1">
                  <c:v>480</c:v>
                </c:pt>
                <c:pt idx="2">
                  <c:v>200</c:v>
                </c:pt>
                <c:pt idx="3">
                  <c:v>60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varyColors val="0"/>
        <c:ser>
          <c:idx val="0"/>
          <c:order val="0"/>
          <c:tx>
            <c:v>After replay (%)</c:v>
          </c:tx>
          <c:spPr>
            <a:solidFill xmlns:a="http://schemas.openxmlformats.org/drawingml/2006/main">
              <a:srgbClr val="067B70"/>
            </a:solidFill>
          </c:spPr>
          <c:cat>
            <c:strRef>
              <c:f>'Chart Data'!$A$2:$A$11</c:f>
              <c:strCache>
                <c:ptCount val="10"/>
                <c:pt idx="0">
                  <c:v>AAPL</c:v>
                </c:pt>
                <c:pt idx="1">
                  <c:v>MSFT</c:v>
                </c:pt>
                <c:pt idx="2">
                  <c:v>NVDA</c:v>
                </c:pt>
                <c:pt idx="3">
                  <c:v>AMZN</c:v>
                </c:pt>
                <c:pt idx="4">
                  <c:v>GOOGL</c:v>
                </c:pt>
                <c:pt idx="5">
                  <c:v>META</c:v>
                </c:pt>
                <c:pt idx="6">
                  <c:v>TSLA</c:v>
                </c:pt>
                <c:pt idx="7">
                  <c:v>JPM</c:v>
                </c:pt>
                <c:pt idx="8">
                  <c:v>V</c:v>
                </c:pt>
                <c:pt idx="9">
                  <c:v>WMT</c:v>
                </c:pt>
              </c:strCache>
            </c:strRef>
          </c:cat>
          <c:val>
            <c:numRef>
              <c:f>'Chart Data'!$B$2:$B$11</c:f>
              <c:numCache>
                <c:formatCode>General</c:formatCode>
                <c:ptCount val="10"/>
                <c:pt idx="0">
                  <c:v>13.85</c:v>
                </c:pt>
                <c:pt idx="1">
                  <c:v>13.61</c:v>
                </c:pt>
                <c:pt idx="2">
                  <c:v>12.73</c:v>
                </c:pt>
                <c:pt idx="3">
                  <c:v>9.61</c:v>
                </c:pt>
                <c:pt idx="4">
                  <c:v>9.34</c:v>
                </c:pt>
                <c:pt idx="5">
                  <c:v>9.34</c:v>
                </c:pt>
                <c:pt idx="6">
                  <c:v>7.79</c:v>
                </c:pt>
                <c:pt idx="7">
                  <c:v>5.07</c:v>
                </c:pt>
                <c:pt idx="8">
                  <c:v>9.34</c:v>
                </c:pt>
                <c:pt idx="9">
                  <c:v>9.34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869F85A6-B749-4056-BF14-BD6ECF9123FD}"/>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RiskRadar</a:t>
            </a:r>
          </a:p>
        </p:txBody>
      </p:sp>
      <p:sp>
        <p:nvSpPr>
          <p:cNvPr id="2" name="">
            <a:extLst xmlns:a="http://schemas.openxmlformats.org/drawingml/2006/main">
              <a:ext uri="{FF2B5EF4-FFF2-40B4-BE49-F238E27FC236}">
                <a16:creationId xmlns:a16="http://schemas.microsoft.com/office/drawing/2014/main" id="{680A1DAB-F42D-44DC-8B89-47EE02C05EA8}"/>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Financial text → structured signals → portfolio decisions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 unified AI/NLP risk engine with two applications: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 Module A: sentiment-driven mock index rebalancing</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 Module B: event-triggered portfolio stress testing</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Aarohi Chadha  |  aarohichadha</a:t>
            </a:r>
          </a:p>
        </p:txBody>
      </p:sp>
      <p:sp>
        <p:nvSpPr>
          <p:cNvPr id="3" name="">
            <a:extLst xmlns:a="http://schemas.openxmlformats.org/drawingml/2006/main">
              <a:ext uri="{FF2B5EF4-FFF2-40B4-BE49-F238E27FC236}">
                <a16:creationId xmlns:a16="http://schemas.microsoft.com/office/drawing/2014/main" id="{3EB8AD8B-6EF0-4C66-9C8E-1970603DBD90}"/>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569203798"/>
      </p:ext>
    </p:extLst>
  </p:cSld>
</p:sld>
</file>

<file path=ppt/slides/slide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2AC617F-FE9E-48E3-8453-33F6CB8F467C}"/>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Architecture and live data</a:t>
            </a:r>
          </a:p>
        </p:txBody>
      </p:sp>
      <p:sp>
        <p:nvSpPr>
          <p:cNvPr id="2" name="">
            <a:extLst xmlns:a="http://schemas.openxmlformats.org/drawingml/2006/main">
              <a:ext uri="{FF2B5EF4-FFF2-40B4-BE49-F238E27FC236}">
                <a16:creationId xmlns:a16="http://schemas.microsoft.com/office/drawing/2014/main" id="{626138BC-D3B2-4784-BDD7-C377B3DC69DA}"/>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BBC Business RSS + Guardian Business RSS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Two live sources, fetched on demand or every 60 seconds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Shared engine: TF-IDF sentiment + event/impact rules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Structured JSON signals retain text, source and evidence</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Public dashboard + live API, with no visitor sign-in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Local Python server also persists signals in SQLite</a:t>
            </a:r>
          </a:p>
        </p:txBody>
      </p:sp>
      <p:sp>
        <p:nvSpPr>
          <p:cNvPr id="3" name="">
            <a:extLst xmlns:a="http://schemas.openxmlformats.org/drawingml/2006/main">
              <a:ext uri="{FF2B5EF4-FFF2-40B4-BE49-F238E27FC236}">
                <a16:creationId xmlns:a16="http://schemas.microsoft.com/office/drawing/2014/main" id="{07E4EE76-510A-4656-BE5A-72143BDB1B7C}"/>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529103258"/>
      </p:ext>
    </p:extLst>
  </p:cSld>
</p:sld>
</file>

<file path=ppt/slides/slide3.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73052DF-BE1D-4425-8804-EB4223CBC6AA}"/>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Real dataset and measured sentiment quality</a:t>
            </a:r>
          </a:p>
        </p:txBody>
      </p:sp>
      <p:sp>
        <p:nvSpPr>
          <p:cNvPr id="2" name="">
            <a:extLst xmlns:a="http://schemas.openxmlformats.org/drawingml/2006/main">
              <a:ext uri="{FF2B5EF4-FFF2-40B4-BE49-F238E27FC236}">
                <a16:creationId xmlns:a16="http://schemas.microsoft.com/office/drawing/2014/main" id="{79FA0949-664E-4FE9-99A2-4BE7E1C0FADD}"/>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Twitter Financial News Sentiment (publisher: zeroshot)</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9,374 training texts  |  2,318 evaluation texts after cleaning</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Held-out accuracy: 82.05%</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Macro F1: 0.761 across negative, neutral and positive</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TF-IDF unigrams/bigrams + balanced logistic regression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Exact duplicates, conflicting labels and split overlap removed</a:t>
            </a:r>
          </a:p>
        </p:txBody>
      </p:sp>
      <p:sp>
        <p:nvSpPr>
          <p:cNvPr id="3" name="">
            <a:extLst xmlns:a="http://schemas.openxmlformats.org/drawingml/2006/main">
              <a:ext uri="{FF2B5EF4-FFF2-40B4-BE49-F238E27FC236}">
                <a16:creationId xmlns:a16="http://schemas.microsoft.com/office/drawing/2014/main" id="{390568B7-D72D-4686-AA27-3EADAECAFF58}"/>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1822283173"/>
      </p:ext>
    </p:extLst>
  </p:cSld>
</p:sld>
</file>

<file path=ppt/slides/slide4.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ADDAFAE5-A6D7-4B76-B9E5-0177C2FD3C6B}"/>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Inspectable, machine-readable risk signals</a:t>
            </a:r>
          </a:p>
        </p:txBody>
      </p:sp>
      <p:sp>
        <p:nvSpPr>
          <p:cNvPr id="2" name="">
            <a:extLst xmlns:a="http://schemas.openxmlformats.org/drawingml/2006/main">
              <a:ext uri="{FF2B5EF4-FFF2-40B4-BE49-F238E27FC236}">
                <a16:creationId xmlns:a16="http://schemas.microsoft.com/office/drawing/2014/main" id="{6B9FAFB8-41C8-4933-8D7C-BA4362E12A32}"/>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Sentiment score = P(positive) − P(negative), range −1 to 1</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Event: geopolitical, macroeconomic, credit, M&amp;A, product or Other</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Impact: bounded keyword severity estimate, range 1 to 10</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Synthetic war replay example:</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Sentiment −0.519  |  Geopolitical  |  Impact 9</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Signals include source, timestamp, probabilities and evidence</a:t>
            </a:r>
          </a:p>
        </p:txBody>
      </p:sp>
      <p:sp>
        <p:nvSpPr>
          <p:cNvPr id="3" name="">
            <a:extLst xmlns:a="http://schemas.openxmlformats.org/drawingml/2006/main">
              <a:ext uri="{FF2B5EF4-FFF2-40B4-BE49-F238E27FC236}">
                <a16:creationId xmlns:a16="http://schemas.microsoft.com/office/drawing/2014/main" id="{655BDE2C-AB63-4E4E-BBAC-DDEFCE87F96C}"/>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912121994"/>
      </p:ext>
    </p:extLst>
  </p:cSld>
</p:sld>
</file>

<file path=ppt/slides/slide5.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DD03D95-DAA6-45F1-BED3-D72364095F7C}"/>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Module B: portfolio stress test</a:t>
            </a:r>
          </a:p>
        </p:txBody>
      </p:sp>
      <p:sp>
        <p:nvSpPr>
          <p:cNvPr id="2" name="">
            <a:extLst xmlns:a="http://schemas.openxmlformats.org/drawingml/2006/main">
              <a:ext uri="{FF2B5EF4-FFF2-40B4-BE49-F238E27FC236}">
                <a16:creationId xmlns:a16="http://schemas.microsoft.com/office/drawing/2014/main" id="{0514D1D6-06A0-4A4D-8FC7-3F64D5CED784}"/>
              </a:ext>
            </a:extLst>
          </p:cNvPr>
          <p:cNvSpPr>
            <a:spLocks xmlns:a="http://schemas.openxmlformats.org/drawingml/2006/main" noGrp="1"/>
          </p:cNvSpPr>
          <p:nvPr/>
        </p:nvSpPr>
        <p:spPr>
          <a:xfrm xmlns:a="http://schemas.openxmlformats.org/drawingml/2006/main">
            <a:off x="704850" y="1666875"/>
            <a:ext cx="457200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Baseline: $10.00 million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After stress: $8.98 million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Loss: $1.02 million (10.2%)</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Trigger: impact score &gt; 7</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Each run starts from baseline</a:t>
            </a:r>
          </a:p>
        </p:txBody>
      </p:sp>
      <p:sp>
        <p:nvSpPr>
          <p:cNvPr id="3" name="">
            <a:extLst xmlns:a="http://schemas.openxmlformats.org/drawingml/2006/main">
              <a:ext uri="{FF2B5EF4-FFF2-40B4-BE49-F238E27FC236}">
                <a16:creationId xmlns:a16="http://schemas.microsoft.com/office/drawing/2014/main" id="{662013CC-6EAE-4A4C-A4BD-3A9066C11166}"/>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graphicFrame>
        <p:nvGraphicFramePr>
          <p:cNvPr id="4" name="Chart">
            <a:extLst xmlns:a="http://schemas.openxmlformats.org/drawingml/2006/main">
              <a:ext uri="{FF2B5EF4-FFF2-40B4-BE49-F238E27FC236}">
                <a16:creationId xmlns:a16="http://schemas.microsoft.com/office/drawing/2014/main" id="{9D10C3DE-6ADB-46F3-BD9E-FDDB491F4014}"/>
              </a:ext>
            </a:extLst>
          </p:cNvPr>
          <p:cNvGraphicFramePr/>
          <p:nvPr/>
        </p:nvGraphicFramePr>
        <p:xfrm>
          <a:off xmlns:a="http://schemas.openxmlformats.org/drawingml/2006/main" x="5810250" y="1762125"/>
          <a:ext xmlns:a="http://schemas.openxmlformats.org/drawingml/2006/main" cx="5619750" cy="3429000"/>
        </p:xfrm>
        <a:graphic xmlns:a="http://schemas.openxmlformats.org/drawingml/2006/main">
          <a:graphicData uri="http://schemas.openxmlformats.org/drawingml/2006/chart">
            <c:chart xmlns:r="http://schemas.openxmlformats.org/officeDocument/2006/relationships" xmlns:c="http://schemas.openxmlformats.org/drawingml/2006/chart" r:id="R935b01ad284a43c4"/>
          </a:graphicData>
        </a:graphic>
      </p:graphicFrame>
      <p:sp>
        <p:nvSpPr>
          <p:cNvPr id="5" name="">
            <a:extLst xmlns:a="http://schemas.openxmlformats.org/drawingml/2006/main">
              <a:ext uri="{FF2B5EF4-FFF2-40B4-BE49-F238E27FC236}">
                <a16:creationId xmlns:a16="http://schemas.microsoft.com/office/drawing/2014/main" id="{82B7733C-DCA3-4216-BFA3-759AD15E8BF4}"/>
              </a:ext>
            </a:extLst>
          </p:cNvPr>
          <p:cNvSpPr>
            <a:spLocks xmlns:a="http://schemas.openxmlformats.org/drawingml/2006/main" noGrp="1"/>
          </p:cNvSpPr>
          <p:nvPr/>
        </p:nvSpPr>
        <p:spPr>
          <a:xfrm xmlns:a="http://schemas.openxmlformats.org/drawingml/2006/main">
            <a:off x="704850" y="55721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4798B"/>
                </a:solidFill>
                <a:latin typeface="Arial"/>
                <a:ea typeface="Arial"/>
                <a:cs typeface="Arial"/>
              </a:defRPr>
            </a:defPPr>
          </a:lstStyle>
          <a:p xmlns:a="http://schemas.openxmlformats.org/drawingml/2006/main">
            <a:pPr>
              <a:defRPr sz="1725" b="0">
                <a:solidFill>
                  <a:srgbClr val="64798B"/>
                </a:solidFill>
                <a:latin typeface="Arial"/>
                <a:ea typeface="Arial"/>
                <a:cs typeface="Arial"/>
              </a:defRPr>
            </a:pPr>
            <a:r>
              <a:rPr sz="1725" b="0">
                <a:solidFill>
                  <a:srgbClr val="64798B"/>
                </a:solidFill>
                <a:latin typeface="Arial"/>
                <a:ea typeface="Arial"/>
                <a:cs typeface="Arial"/>
              </a:rPr>
              <a:t>Assumed shocks: equity −10%; rates +2 pp; credit spreads +1.5 pp.</a:t>
            </a:r>
          </a:p>
        </p:txBody>
      </p:sp>
    </p:spTree>
    <p:extLst>
      <p:ext uri="{BB962C8B-B14F-4D97-AF65-F5344CB8AC3E}">
        <p14:creationId xmlns:p14="http://schemas.microsoft.com/office/powerpoint/2010/main" val="272518805"/>
      </p:ext>
    </p:extLst>
  </p:cSld>
</p:sld>
</file>

<file path=ppt/slides/slide6.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608638B-C0E2-4876-94DD-9CFF7903150C}"/>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Module A: tactical index rebalancing</a:t>
            </a:r>
          </a:p>
        </p:txBody>
      </p:sp>
      <p:sp>
        <p:nvSpPr>
          <p:cNvPr id="2" name="">
            <a:extLst xmlns:a="http://schemas.openxmlformats.org/drawingml/2006/main">
              <a:ext uri="{FF2B5EF4-FFF2-40B4-BE49-F238E27FC236}">
                <a16:creationId xmlns:a16="http://schemas.microsoft.com/office/drawing/2014/main" id="{E5D69397-ADB5-4B68-B9AA-1AB40CE617E7}"/>
              </a:ext>
            </a:extLst>
          </p:cNvPr>
          <p:cNvSpPr>
            <a:spLocks xmlns:a="http://schemas.openxmlformats.org/drawingml/2006/main" noGrp="1"/>
          </p:cNvSpPr>
          <p:nvPr/>
        </p:nvSpPr>
        <p:spPr>
          <a:xfrm xmlns:a="http://schemas.openxmlformats.org/drawingml/2006/main">
            <a:off x="704850" y="1524000"/>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Ten mock stocks start at 10% each</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Raw weight = 1 + 0.5 × latest company sentiment</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Normalized weights sum to 100%; history updates as signals arrive</a:t>
            </a:r>
          </a:p>
        </p:txBody>
      </p:sp>
      <p:sp>
        <p:nvSpPr>
          <p:cNvPr id="3" name="">
            <a:extLst xmlns:a="http://schemas.openxmlformats.org/drawingml/2006/main">
              <a:ext uri="{FF2B5EF4-FFF2-40B4-BE49-F238E27FC236}">
                <a16:creationId xmlns:a16="http://schemas.microsoft.com/office/drawing/2014/main" id="{5E6C2D11-6250-47E2-8938-BB639DBF7380}"/>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graphicFrame>
        <p:nvGraphicFramePr>
          <p:cNvPr id="4" name="Chart">
            <a:extLst xmlns:a="http://schemas.openxmlformats.org/drawingml/2006/main">
              <a:ext uri="{FF2B5EF4-FFF2-40B4-BE49-F238E27FC236}">
                <a16:creationId xmlns:a16="http://schemas.microsoft.com/office/drawing/2014/main" id="{E3AA29C5-A840-4129-9EEB-06B4AD4C0F6C}"/>
              </a:ext>
            </a:extLst>
          </p:cNvPr>
          <p:cNvGraphicFramePr/>
          <p:nvPr/>
        </p:nvGraphicFramePr>
        <p:xfrm>
          <a:off xmlns:a="http://schemas.openxmlformats.org/drawingml/2006/main" x="762000" y="3048000"/>
          <a:ext xmlns:a="http://schemas.openxmlformats.org/drawingml/2006/main" cx="10572750" cy="2667000"/>
        </p:xfrm>
        <a:graphic xmlns:a="http://schemas.openxmlformats.org/drawingml/2006/main">
          <a:graphicData uri="http://schemas.openxmlformats.org/drawingml/2006/chart">
            <c:chart xmlns:r="http://schemas.openxmlformats.org/officeDocument/2006/relationships" xmlns:c="http://schemas.openxmlformats.org/drawingml/2006/chart" r:id="R17229f779e3741b5"/>
          </a:graphicData>
        </a:graphic>
      </p:graphicFrame>
    </p:spTree>
    <p:extLst>
      <p:ext uri="{BB962C8B-B14F-4D97-AF65-F5344CB8AC3E}">
        <p14:creationId xmlns:p14="http://schemas.microsoft.com/office/powerpoint/2010/main" val="1955831204"/>
      </p:ext>
    </p:extLst>
  </p:cSld>
</p:sld>
</file>

<file path=ppt/slides/slide7.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5A1640A-1A07-47DB-A08A-14E474C5AC2D}"/>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Results, limitations and submission</a:t>
            </a:r>
          </a:p>
        </p:txBody>
      </p:sp>
      <p:sp>
        <p:nvSpPr>
          <p:cNvPr id="2" name="">
            <a:extLst xmlns:a="http://schemas.openxmlformats.org/drawingml/2006/main">
              <a:ext uri="{FF2B5EF4-FFF2-40B4-BE49-F238E27FC236}">
                <a16:creationId xmlns:a16="http://schemas.microsoft.com/office/drawing/2014/main" id="{FF25A116-2E25-460A-B876-F57A68608359}"/>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Verified: 9 Python unit tests, API integration and JS parity</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Live news ingestion, JSON exports and both downstream modules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Limits: simple entity/event rules; illustrative shocks; uncalibrated scores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Next: temporal sentiment evaluation and market-calibrated scenarios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Code: github.com/aarohichadha/RiskRadar</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Demo: aarohichadha.github.io/RiskRadar/</a:t>
            </a:r>
          </a:p>
        </p:txBody>
      </p:sp>
      <p:sp>
        <p:nvSpPr>
          <p:cNvPr id="3" name="">
            <a:extLst xmlns:a="http://schemas.openxmlformats.org/drawingml/2006/main">
              <a:ext uri="{FF2B5EF4-FFF2-40B4-BE49-F238E27FC236}">
                <a16:creationId xmlns:a16="http://schemas.microsoft.com/office/drawing/2014/main" id="{2C1F6309-510A-4CA5-808E-D45B05574B69}"/>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14458292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Aarohi Chadha (aarohichadha)</dc:creator>
  <lastModifiedBy>Aarohi Chadha (aarohichadha)</lastModifiedBy>
  <dc:title>RiskRadar</dc:title>
  <dcterms:created xsi:type="dcterms:W3CDTF">2026-10-11T06:36:43.4310000Z</dcterms:created>
  <dcterms:modified xsi:type="dcterms:W3CDTF">2026-10-11T06:36:43.4310000Z</dcterms:modified>
</coreProperties>
</file>