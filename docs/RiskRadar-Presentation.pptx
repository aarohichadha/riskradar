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3cc86214c304b04" /><Relationship Type="http://schemas.openxmlformats.org/officeDocument/2006/relationships/extended-properties" Target="/docProps/app.xml" Id="R454dd304a82f4669" /><Relationship Type="http://schemas.openxmlformats.org/officeDocument/2006/relationships/officeDocument" Target="/ppt/presentation.xml" Id="R138132568df5413d" /></Relationships>
</file>

<file path=ppt/presentation.xml><?xml version="1.0" encoding="utf-8"?>
<p:presentation xmlns:p="http://schemas.openxmlformats.org/presentationml/2006/main">
  <p:sldMasterIdLst>
    <p:sldMasterId xmlns:r="http://schemas.openxmlformats.org/officeDocument/2006/relationships" id="2147483648" r:id="R7aa0265d7a0a4167"/>
  </p:sldMasterIdLst>
  <p:notesMasterIdLst>
    <p:notesMasterId xmlns:r="http://schemas.openxmlformats.org/officeDocument/2006/relationships" r:id="Rf6d7fd5231404000"/>
  </p:notesMasterIdLst>
  <p:sldIdLst>
    <p:sldId xmlns:r="http://schemas.openxmlformats.org/officeDocument/2006/relationships" id="256" r:id="R2c6e7b261a8e4e79"/>
    <p:sldId xmlns:r="http://schemas.openxmlformats.org/officeDocument/2006/relationships" id="257" r:id="R6c2d7729468c423e"/>
    <p:sldId xmlns:r="http://schemas.openxmlformats.org/officeDocument/2006/relationships" id="258" r:id="Raac83ae17f3b46e1"/>
    <p:sldId xmlns:r="http://schemas.openxmlformats.org/officeDocument/2006/relationships" id="259" r:id="R29a2fac365784411"/>
    <p:sldId xmlns:r="http://schemas.openxmlformats.org/officeDocument/2006/relationships" id="260" r:id="R93c45c9013a24cc5"/>
    <p:sldId xmlns:r="http://schemas.openxmlformats.org/officeDocument/2006/relationships" id="261" r:id="R3bd19aa10f0a4383"/>
    <p:sldId xmlns:r="http://schemas.openxmlformats.org/officeDocument/2006/relationships" id="262" r:id="Rfae5db58605d429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f890e49c0324f54" /><Relationship Type="http://schemas.openxmlformats.org/officeDocument/2006/relationships/slideMaster" Target="/ppt/slideMasters/slideMaster1.xml" Id="R7aa0265d7a0a4167" /><Relationship Type="http://schemas.openxmlformats.org/officeDocument/2006/relationships/notesMaster" Target="/ppt/notesMasters/notesMaster1.xml" Id="Rf6d7fd5231404000" /><Relationship Type="http://schemas.openxmlformats.org/officeDocument/2006/relationships/presProps" Target="/ppt/presProps.xml" Id="R3dcadbe751734e80" /><Relationship Type="http://schemas.openxmlformats.org/officeDocument/2006/relationships/tableStyles" Target="/ppt/tableStyles.xml" Id="R7af393aa6adf4e1e" /><Relationship Type="http://schemas.openxmlformats.org/officeDocument/2006/relationships/slide" Target="/ppt/slides/slide1.xml" Id="R2c6e7b261a8e4e79" /><Relationship Type="http://schemas.openxmlformats.org/officeDocument/2006/relationships/slide" Target="/ppt/slides/slide2.xml" Id="R6c2d7729468c423e" /><Relationship Type="http://schemas.openxmlformats.org/officeDocument/2006/relationships/slide" Target="/ppt/slides/slide3.xml" Id="Raac83ae17f3b46e1" /><Relationship Type="http://schemas.openxmlformats.org/officeDocument/2006/relationships/slide" Target="/ppt/slides/slide4.xml" Id="R29a2fac365784411" /><Relationship Type="http://schemas.openxmlformats.org/officeDocument/2006/relationships/slide" Target="/ppt/slides/slide5.xml" Id="R93c45c9013a24cc5" /><Relationship Type="http://schemas.openxmlformats.org/officeDocument/2006/relationships/slide" Target="/ppt/slides/slide6.xml" Id="R3bd19aa10f0a4383" /><Relationship Type="http://schemas.openxmlformats.org/officeDocument/2006/relationships/slide" Target="/ppt/slides/slide7.xml" Id="Rfae5db58605d42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a08e38a34e54f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f4c65276f24f67" /><Relationship Type="http://schemas.openxmlformats.org/officeDocument/2006/relationships/notesMaster" Target="/ppt/notesMasters/notesMaster1.xml" Id="Re4deb5da40d541dd" /></Relationships>
</file>

<file path=ppt/notesSlides/_rels/notesSlide2.xml.rels>&#65279;<?xml version="1.0" encoding="utf-8"?><Relationships xmlns="http://schemas.openxmlformats.org/package/2006/relationships"><Relationship Type="http://schemas.openxmlformats.org/officeDocument/2006/relationships/slide" Target="/ppt/slides/slide2.xml" Id="R80eb8e37a8f14e4c" /><Relationship Type="http://schemas.openxmlformats.org/officeDocument/2006/relationships/notesMaster" Target="/ppt/notesMasters/notesMaster1.xml" Id="Rb20a275a766f4b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56c41d2ae99a4ce2" /><Relationship Type="http://schemas.openxmlformats.org/officeDocument/2006/relationships/notesMaster" Target="/ppt/notesMasters/notesMaster1.xml" Id="R3fd0ff72b1384d7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5a3c2d4be6e4114" /><Relationship Type="http://schemas.openxmlformats.org/officeDocument/2006/relationships/notesMaster" Target="/ppt/notesMasters/notesMaster1.xml" Id="R2004507c959841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8b41a62c35354606" /><Relationship Type="http://schemas.openxmlformats.org/officeDocument/2006/relationships/notesMaster" Target="/ppt/notesMasters/notesMaster1.xml" Id="Rced48011bff340c4" /></Relationships>
</file>

<file path=ppt/notesSlides/_rels/notesSlide6.xml.rels>&#65279;<?xml version="1.0" encoding="utf-8"?><Relationships xmlns="http://schemas.openxmlformats.org/package/2006/relationships"><Relationship Type="http://schemas.openxmlformats.org/officeDocument/2006/relationships/slide" Target="/ppt/slides/slide6.xml" Id="Rabc0d9801dfa4c63" /><Relationship Type="http://schemas.openxmlformats.org/officeDocument/2006/relationships/notesMaster" Target="/ppt/notesMasters/notesMaster1.xml" Id="R24814b09a9ea41d8"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c6f4c180d4449e" /><Relationship Type="http://schemas.openxmlformats.org/officeDocument/2006/relationships/notesMaster" Target="/ppt/notesMasters/notesMaster1.xml" Id="R5e65803d46e342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Individual submission by Aarohi Chadha, IGDTUW. Working financial-text prototype. AI assistance supported implementation and documentation, as disclosed in README. Real public text trains sentiment. Synthetic fixtures demonstrate portfolio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interpretation based on the supplied case study. Decision support is the intended use. No analyst time saving, trading performance or production risk accuracy is measured. Both modules use explicit, inspectable assumptions.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BBC Business and Guardian Business RSS supply title/description records with source URL and timestamp. Manual/replay records also enter the engine. TF-IDF/logistic regression supplies sentiment; keyword rules supply event/impact. Python API stores local signals in SQLite. Public ESM Worker handles feeds; GitHub Pages runs browser inference. Public session state is in memory. JSON exports contain signals, stress and every position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Dataset https://huggingface.co/datasets/zeroshot/twitter-financial-news-sentiment revision ccbe24de388e287beb92dd393a335c376b350ac3. Raw downloaded rows 9543 train, 2388 validation. Evaluation overlap removed 55. TF-IDF unigram/bigram max16000 min_df2 sublinear_tf, logistic regression C4 balanced seed42. No evaluation tuning. Not temporal/entity-disjoint. Accuracy 0.82053494391717, macro F1 0.7605247651302703, sentiment only. Raw CSVs, cleaned splits, card and hashes bundled in data/. Python unit tests9 pass; API integration, JS parity and both publishers verified. Probabilities uncalibrated. Severity estimate is not a market prediction.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portfolio $4m loan $3m bond $2m equity $1m derivative. Shocks equity -10%, rates +2pp, spreads +1.5pp. Loan durations2/2, bond5/4, equitybeta1, derivative signedratesensitivity -$3m/unit rate. Losses280k480k200k60k. War sentiment-.519. Illustrative linear exposures and shocks, no historical calibration.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mock index. Current index membership not asserted. GLOBAL signals do not alter company weights. Replay final weights shown. No trade execution, price backtest, costs or outperformance claim. Chart history traces three named positions while exports include allten.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Domain impact is proposed decision-support usefulness, not measured efficiency. No market prediction accuracy, time saving or outperformance claim. Code https://github.com/aarohichadha/igdtuw-aarohi-chadha-hackathon . Dashboard https://aarohichadha.github.io/igdtuw-aarohi-chadha-hackathon/ . Guidelines require 10minute Unlisted YouTube recording, while original case study limits live demo5min. Recording URL and collegeemail remain candidate-dependent. Both fixeddatasets and originalpublisherCSV included. README disclosesAIassistance.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a6dff14d1340a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359f0c3c3db40f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2fa6e1528cc428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42d9dd89f1c42f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fdf7764f23e449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9100359c2634fa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76048A4-5B4F-4EE8-8F4D-3447FAB98D2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424C53B-7CA6-49E1-B5AB-DC12E70A8D6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9C035C0-FDCE-47DC-AD0E-B973796974D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3D105C-DC53-47EE-87B5-06D231FEF1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22887E0-8FB1-4E11-B48B-BFBAD4EAE12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BBA63D4-FD13-4520-A7C3-8979E96AB7D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CC3F05D-A6A9-432C-9AAC-28A213E66F1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75FE6BD-195A-447D-8584-AB9EDA38547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8DCA12-9AD6-4BAA-BBF0-E2F17D2AEB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7DC490B-3F1E-4395-A14B-1CAE3F4AB88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5bf873dd904b38" /><Relationship Type="http://schemas.openxmlformats.org/officeDocument/2006/relationships/slideLayout" Target="/ppt/slideLayouts/slideLayout1.xml" Id="Ra81d8abc290c470a" /><Relationship Type="http://schemas.openxmlformats.org/officeDocument/2006/relationships/slideLayout" Target="/ppt/slideLayouts/slideLayout2.xml" Id="R93a7e8ec07804706" /><Relationship Type="http://schemas.openxmlformats.org/officeDocument/2006/relationships/slideLayout" Target="/ppt/slideLayouts/slideLayout3.xml" Id="Rdc56cd27b2374942" /><Relationship Type="http://schemas.openxmlformats.org/officeDocument/2006/relationships/slideLayout" Target="/ppt/slideLayouts/slideLayout4.xml" Id="Rcda882da22f34294" /><Relationship Type="http://schemas.openxmlformats.org/officeDocument/2006/relationships/slideLayout" Target="/ppt/slideLayouts/slideLayout5.xml" Id="R173a53d72a29499f" /><Relationship Type="http://schemas.openxmlformats.org/officeDocument/2006/relationships/slideLayout" Target="/ppt/slideLayouts/slideLayout6.xml" Id="R7f39e28bbe3f48e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81d8abc290c470a"/>
    <p:sldLayoutId xmlns:r="http://schemas.openxmlformats.org/officeDocument/2006/relationships" id="2147483650" r:id="R93a7e8ec07804706"/>
    <p:sldLayoutId xmlns:r="http://schemas.openxmlformats.org/officeDocument/2006/relationships" id="2147483651" r:id="Rdc56cd27b2374942"/>
    <p:sldLayoutId xmlns:r="http://schemas.openxmlformats.org/officeDocument/2006/relationships" id="2147483652" r:id="Rcda882da22f34294"/>
    <p:sldLayoutId xmlns:r="http://schemas.openxmlformats.org/officeDocument/2006/relationships" id="2147483653" r:id="R173a53d72a29499f"/>
    <p:sldLayoutId xmlns:r="http://schemas.openxmlformats.org/officeDocument/2006/relationships" id="2147483654" r:id="R7f39e28bbe3f48e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9f14fa1435b4b68" /><Relationship Type="http://schemas.openxmlformats.org/officeDocument/2006/relationships/notesSlide" Target="/ppt/notesSlides/notesSlide1.xml" Id="Rca92495c1cdc4fa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67c16252b534a26" /><Relationship Type="http://schemas.openxmlformats.org/officeDocument/2006/relationships/notesSlide" Target="/ppt/notesSlides/notesSlide2.xml" Id="R5eaf009e2dee48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e3fe3d547b7418b" /><Relationship Type="http://schemas.openxmlformats.org/officeDocument/2006/relationships/notesSlide" Target="/ppt/notesSlides/notesSlide3.xml" Id="R9a7b9de18d6044e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691abbf4fb24166" /><Relationship Type="http://schemas.openxmlformats.org/officeDocument/2006/relationships/notesSlide" Target="/ppt/notesSlides/notesSlide4.xml" Id="R976aa4397ac141d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dbb51bcdda749d8" /><Relationship Type="http://schemas.openxmlformats.org/officeDocument/2006/relationships/chart" Target="/ppt/slides/charts/chart1.xml" Id="R2c7acde23d784b58" /><Relationship Type="http://schemas.openxmlformats.org/officeDocument/2006/relationships/notesSlide" Target="/ppt/notesSlides/notesSlide5.xml" Id="Ra6346a2f712f4de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a466f3eabec4be1" /><Relationship Type="http://schemas.openxmlformats.org/officeDocument/2006/relationships/chart" Target="/ppt/slides/charts/chart2.xml" Id="Rc62d20e445024767" /><Relationship Type="http://schemas.openxmlformats.org/officeDocument/2006/relationships/notesSlide" Target="/ppt/notesSlides/notesSlide6.xml" Id="R7ce62eb755fb41c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4d4f5d4f01f4e9f" /><Relationship Type="http://schemas.openxmlformats.org/officeDocument/2006/relationships/notesSlide" Target="/ppt/notesSlides/notesSlide7.xml" Id="R85c36506ddf54cf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Loss ($ thousands)</c:v>
          </c:tx>
          <c:spPr>
            <a:solidFill xmlns:a="http://schemas.openxmlformats.org/drawingml/2006/main">
              <a:srgbClr val="067B70"/>
            </a:solidFill>
          </c:spPr>
          <c:cat>
            <c:strRef>
              <c:f>'Chart Data'!$A$2:$A$5</c:f>
              <c:strCache>
                <c:ptCount val="4"/>
                <c:pt idx="0">
                  <c:v>Loan</c:v>
                </c:pt>
                <c:pt idx="1">
                  <c:v>Bond</c:v>
                </c:pt>
                <c:pt idx="2">
                  <c:v>Equity</c:v>
                </c:pt>
                <c:pt idx="3">
                  <c:v>Derivative</c:v>
                </c:pt>
              </c:strCache>
            </c:strRef>
          </c:cat>
          <c:val>
            <c:numRef>
              <c:f>'Chart Data'!$B$2:$B$5</c:f>
              <c:numCache>
                <c:formatCode>General</c:formatCode>
                <c:ptCount val="4"/>
                <c:pt idx="0">
                  <c:v>280</c:v>
                </c:pt>
                <c:pt idx="1">
                  <c:v>480</c:v>
                </c:pt>
                <c:pt idx="2">
                  <c:v>200</c:v>
                </c:pt>
                <c:pt idx="3">
                  <c:v>60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After replay (%)</c:v>
          </c:tx>
          <c:spPr>
            <a:solidFill xmlns:a="http://schemas.openxmlformats.org/drawingml/2006/main">
              <a:srgbClr val="067B70"/>
            </a:solidFill>
          </c:spPr>
          <c:cat>
            <c:strRef>
              <c:f>'Chart Data'!$A$2:$A$11</c:f>
              <c:strCache>
                <c:ptCount val="10"/>
                <c:pt idx="0">
                  <c:v>AAPL</c:v>
                </c:pt>
                <c:pt idx="1">
                  <c:v>MSFT</c:v>
                </c:pt>
                <c:pt idx="2">
                  <c:v>NVDA</c:v>
                </c:pt>
                <c:pt idx="3">
                  <c:v>AMZN</c:v>
                </c:pt>
                <c:pt idx="4">
                  <c:v>GOOGL</c:v>
                </c:pt>
                <c:pt idx="5">
                  <c:v>META</c:v>
                </c:pt>
                <c:pt idx="6">
                  <c:v>TSLA</c:v>
                </c:pt>
                <c:pt idx="7">
                  <c:v>JPM</c:v>
                </c:pt>
                <c:pt idx="8">
                  <c:v>V</c:v>
                </c:pt>
                <c:pt idx="9">
                  <c:v>WMT</c:v>
                </c:pt>
              </c:strCache>
            </c:strRef>
          </c:cat>
          <c:val>
            <c:numRef>
              <c:f>'Chart Data'!$B$2:$B$11</c:f>
              <c:numCache>
                <c:formatCode>General</c:formatCode>
                <c:ptCount val="10"/>
                <c:pt idx="0">
                  <c:v>13.85</c:v>
                </c:pt>
                <c:pt idx="1">
                  <c:v>13.61</c:v>
                </c:pt>
                <c:pt idx="2">
                  <c:v>12.73</c:v>
                </c:pt>
                <c:pt idx="3">
                  <c:v>9.61</c:v>
                </c:pt>
                <c:pt idx="4">
                  <c:v>9.34</c:v>
                </c:pt>
                <c:pt idx="5">
                  <c:v>9.34</c:v>
                </c:pt>
                <c:pt idx="6">
                  <c:v>7.79</c:v>
                </c:pt>
                <c:pt idx="7">
                  <c:v>5.07</c:v>
                </c:pt>
                <c:pt idx="8">
                  <c:v>9.34</c:v>
                </c:pt>
                <c:pt idx="9">
                  <c:v>9.34</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856842A-17AF-44C5-B655-89220DA61B1F}"/>
              </a:ext>
            </a:extLst>
          </p:cNvPr>
          <p:cNvSpPr>
            <a:spLocks xmlns:a="http://schemas.openxmlformats.org/drawingml/2006/main" noGrp="1"/>
          </p:cNvSpPr>
          <p:nvPr/>
        </p:nvSpPr>
        <p:spPr>
          <a:xfrm xmlns:a="http://schemas.openxmlformats.org/drawingml/2006/main">
            <a:off x="666750" y="52387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638"/>
                </a:solidFill>
                <a:latin typeface="Arial"/>
                <a:ea typeface="Arial"/>
                <a:cs typeface="Arial"/>
              </a:defRPr>
            </a:defPPr>
          </a:lstStyle>
          <a:p xmlns:a="http://schemas.openxmlformats.org/drawingml/2006/main">
            <a:pPr>
              <a:defRPr sz="3225" b="1">
                <a:solidFill>
                  <a:srgbClr val="102638"/>
                </a:solidFill>
                <a:latin typeface="Arial"/>
                <a:ea typeface="Arial"/>
                <a:cs typeface="Arial"/>
              </a:defRPr>
            </a:pPr>
            <a:r>
              <a:rPr sz="3225" b="1">
                <a:solidFill>
                  <a:srgbClr val="102638"/>
                </a:solidFill>
                <a:latin typeface="Arial"/>
                <a:ea typeface="Arial"/>
                <a:cs typeface="Arial"/>
              </a:rPr>
              <a:t>RiskRadar</a:t>
            </a:r>
          </a:p>
        </p:txBody>
      </p:sp>
      <p:sp>
        <p:nvSpPr>
          <p:cNvPr id="2" name="">
            <a:extLst xmlns:a="http://schemas.openxmlformats.org/drawingml/2006/main">
              <a:ext uri="{FF2B5EF4-FFF2-40B4-BE49-F238E27FC236}">
                <a16:creationId xmlns:a16="http://schemas.microsoft.com/office/drawing/2014/main" id="{A0372FEA-6A91-4916-964B-61798FD11D97}"/>
              </a:ext>
            </a:extLst>
          </p:cNvPr>
          <p:cNvSpPr>
            <a:spLocks xmlns:a="http://schemas.openxmlformats.org/drawingml/2006/main" noGrp="1"/>
          </p:cNvSpPr>
          <p:nvPr/>
        </p:nvSpPr>
        <p:spPr>
          <a:xfrm xmlns:a="http://schemas.openxmlformats.org/drawingml/2006/main">
            <a:off x="704850" y="1666875"/>
            <a:ext cx="105727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31485B"/>
                </a:solidFill>
                <a:latin typeface="Arial"/>
                <a:ea typeface="Arial"/>
                <a:cs typeface="Arial"/>
              </a:defRPr>
            </a:defPPr>
          </a:lstStyle>
          <a:p xmlns:a="http://schemas.openxmlformats.org/drawingml/2006/main">
            <a:pPr>
              <a:defRPr sz="2175" b="0">
                <a:solidFill>
                  <a:srgbClr val="31485B"/>
                </a:solidFill>
                <a:latin typeface="Arial"/>
                <a:ea typeface="Arial"/>
                <a:cs typeface="Arial"/>
              </a:defRPr>
            </a:pPr>
            <a:r>
              <a:rPr sz="2175" b="0">
                <a:solidFill>
                  <a:srgbClr val="31485B"/>
                </a:solidFill>
                <a:latin typeface="Arial"/>
                <a:ea typeface="Arial"/>
                <a:cs typeface="Arial"/>
              </a:rPr>
              <a:t>Financial NLP and portfolio scenarios</a:t>
            </a:r>
          </a:p>
          <a:p xmlns:a="http://schemas.openxmlformats.org/drawingml/2006/main">
            <a:r>
              <a:t/>
            </a:r>
          </a:p>
          <a:p xmlns:a="http://schemas.openxmlformats.org/drawingml/2006/main">
            <a:pPr>
              <a:defRPr sz="2175" b="0">
                <a:solidFill>
                  <a:srgbClr val="31485B"/>
                </a:solidFill>
                <a:latin typeface="Arial"/>
                <a:ea typeface="Arial"/>
                <a:cs typeface="Arial"/>
              </a:defRPr>
            </a:pPr>
            <a:r>
              <a:rPr sz="2175" b="0">
                <a:solidFill>
                  <a:srgbClr val="31485B"/>
                </a:solidFill>
                <a:latin typeface="Arial"/>
                <a:ea typeface="Arial"/>
                <a:cs typeface="Arial"/>
              </a:rPr>
              <a:t>Aarohi Chadha</a:t>
            </a:r>
          </a:p>
          <a:p xmlns:a="http://schemas.openxmlformats.org/drawingml/2006/main">
            <a:pPr>
              <a:defRPr sz="2175" b="0">
                <a:solidFill>
                  <a:srgbClr val="31485B"/>
                </a:solidFill>
                <a:latin typeface="Arial"/>
                <a:ea typeface="Arial"/>
                <a:cs typeface="Arial"/>
              </a:defRPr>
            </a:pPr>
            <a:r>
              <a:rPr sz="2175" b="0">
                <a:solidFill>
                  <a:srgbClr val="31485B"/>
                </a:solidFill>
                <a:latin typeface="Arial"/>
                <a:ea typeface="Arial"/>
                <a:cs typeface="Arial"/>
              </a:rPr>
              <a:t>Indira Gandhi Delhi Technical University for Women</a:t>
            </a:r>
          </a:p>
          <a:p xmlns:a="http://schemas.openxmlformats.org/drawingml/2006/main">
            <a:r>
              <a:t/>
            </a:r>
          </a:p>
          <a:p xmlns:a="http://schemas.openxmlformats.org/drawingml/2006/main">
            <a:pPr>
              <a:defRPr sz="2175" b="0">
                <a:solidFill>
                  <a:srgbClr val="31485B"/>
                </a:solidFill>
                <a:latin typeface="Arial"/>
                <a:ea typeface="Arial"/>
                <a:cs typeface="Arial"/>
              </a:defRPr>
            </a:pPr>
            <a:r>
              <a:rPr sz="2175" b="0">
                <a:solidFill>
                  <a:srgbClr val="31485B"/>
                </a:solidFill>
                <a:latin typeface="Arial"/>
                <a:ea typeface="Arial"/>
                <a:cs typeface="Arial"/>
              </a:rPr>
              <a:t>S&amp;P Global &amp; Crisil Campus Hackathon 2026</a:t>
            </a:r>
          </a:p>
        </p:txBody>
      </p:sp>
      <p:sp>
        <p:nvSpPr>
          <p:cNvPr id="3" name="">
            <a:extLst xmlns:a="http://schemas.openxmlformats.org/drawingml/2006/main">
              <a:ext uri="{FF2B5EF4-FFF2-40B4-BE49-F238E27FC236}">
                <a16:creationId xmlns:a16="http://schemas.microsoft.com/office/drawing/2014/main" id="{AE042D92-7E4C-41A6-AF61-1C5209D3FFE6}"/>
              </a:ext>
            </a:extLst>
          </p:cNvPr>
          <p:cNvSpPr>
            <a:spLocks xmlns:a="http://schemas.openxmlformats.org/drawingml/2006/main" noGrp="1"/>
          </p:cNvSpPr>
          <p:nvPr/>
        </p:nvSpPr>
        <p:spPr>
          <a:xfrm xmlns:a="http://schemas.openxmlformats.org/drawingml/2006/main">
            <a:off x="704850" y="633412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4798B"/>
                </a:solidFill>
                <a:latin typeface="Arial"/>
                <a:ea typeface="Arial"/>
                <a:cs typeface="Arial"/>
              </a:defRPr>
            </a:defPPr>
          </a:lstStyle>
          <a:p xmlns:a="http://schemas.openxmlformats.org/drawingml/2006/main">
            <a:pPr>
              <a:defRPr sz="1350" b="0">
                <a:solidFill>
                  <a:srgbClr val="64798B"/>
                </a:solidFill>
                <a:latin typeface="Arial"/>
                <a:ea typeface="Arial"/>
                <a:cs typeface="Arial"/>
              </a:defRPr>
            </a:pPr>
            <a:r>
              <a:rPr sz="1350" b="0">
                <a:solidFill>
                  <a:srgbClr val="64798B"/>
                </a:solidFill>
                <a:latin typeface="Arial"/>
                <a:ea typeface="Arial"/>
                <a:cs typeface="Arial"/>
              </a:rPr>
              <a:t>RiskRadar   /   Aarohi Chadha   /   IGDTUW</a:t>
            </a:r>
          </a:p>
        </p:txBody>
      </p:sp>
    </p:spTree>
    <p:extLst>
      <p:ext uri="{BB962C8B-B14F-4D97-AF65-F5344CB8AC3E}">
        <p14:creationId xmlns:p14="http://schemas.microsoft.com/office/powerpoint/2010/main" val="1640024417"/>
      </p:ext>
    </p:extLst>
  </p:cSld>
</p:sld>
</file>

<file path=ppt/slides/slide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97A30B1-0E30-434C-9010-2DB98D64AFAA}"/>
              </a:ext>
            </a:extLst>
          </p:cNvPr>
          <p:cNvSpPr>
            <a:spLocks xmlns:a="http://schemas.openxmlformats.org/drawingml/2006/main" noGrp="1"/>
          </p:cNvSpPr>
          <p:nvPr/>
        </p:nvSpPr>
        <p:spPr>
          <a:xfrm xmlns:a="http://schemas.openxmlformats.org/drawingml/2006/main">
            <a:off x="666750" y="52387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638"/>
                </a:solidFill>
                <a:latin typeface="Arial"/>
                <a:ea typeface="Arial"/>
                <a:cs typeface="Arial"/>
              </a:defRPr>
            </a:defPPr>
          </a:lstStyle>
          <a:p xmlns:a="http://schemas.openxmlformats.org/drawingml/2006/main">
            <a:pPr>
              <a:defRPr sz="3225" b="1">
                <a:solidFill>
                  <a:srgbClr val="102638"/>
                </a:solidFill>
                <a:latin typeface="Arial"/>
                <a:ea typeface="Arial"/>
                <a:cs typeface="Arial"/>
              </a:defRPr>
            </a:pPr>
            <a:r>
              <a:rPr sz="3225" b="1">
                <a:solidFill>
                  <a:srgbClr val="102638"/>
                </a:solidFill>
                <a:latin typeface="Arial"/>
                <a:ea typeface="Arial"/>
                <a:cs typeface="Arial"/>
              </a:rPr>
              <a:t>Problem and approach</a:t>
            </a:r>
          </a:p>
        </p:txBody>
      </p:sp>
      <p:sp>
        <p:nvSpPr>
          <p:cNvPr id="2" name="">
            <a:extLst xmlns:a="http://schemas.openxmlformats.org/drawingml/2006/main">
              <a:ext uri="{FF2B5EF4-FFF2-40B4-BE49-F238E27FC236}">
                <a16:creationId xmlns:a16="http://schemas.microsoft.com/office/drawing/2014/main" id="{31CC749F-5C45-4754-A3F1-8A023A2B4572}"/>
              </a:ext>
            </a:extLst>
          </p:cNvPr>
          <p:cNvSpPr>
            <a:spLocks xmlns:a="http://schemas.openxmlformats.org/drawingml/2006/main" noGrp="1"/>
          </p:cNvSpPr>
          <p:nvPr/>
        </p:nvSpPr>
        <p:spPr>
          <a:xfrm xmlns:a="http://schemas.openxmlformats.org/drawingml/2006/main">
            <a:off x="704850" y="1666875"/>
            <a:ext cx="105727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31485B"/>
                </a:solidFill>
                <a:latin typeface="Arial"/>
                <a:ea typeface="Arial"/>
                <a:cs typeface="Arial"/>
              </a:defRPr>
            </a:defPPr>
          </a:lstStyle>
          <a:p xmlns:a="http://schemas.openxmlformats.org/drawingml/2006/main">
            <a:pPr>
              <a:defRPr sz="2175" b="0">
                <a:solidFill>
                  <a:srgbClr val="31485B"/>
                </a:solidFill>
                <a:latin typeface="Arial"/>
                <a:ea typeface="Arial"/>
                <a:cs typeface="Arial"/>
              </a:defRPr>
            </a:pPr>
            <a:r>
              <a:rPr sz="2175" b="0">
                <a:solidFill>
                  <a:srgbClr val="31485B"/>
                </a:solidFill>
                <a:latin typeface="Arial"/>
                <a:ea typeface="Arial"/>
                <a:cs typeface="Arial"/>
              </a:rPr>
              <a:t>Financial news arrives as unstructured text from multiple sources</a:t>
            </a:r>
          </a:p>
          <a:p xmlns:a="http://schemas.openxmlformats.org/drawingml/2006/main">
            <a:pPr>
              <a:defRPr sz="2175" b="0">
                <a:solidFill>
                  <a:srgbClr val="31485B"/>
                </a:solidFill>
                <a:latin typeface="Arial"/>
                <a:ea typeface="Arial"/>
                <a:cs typeface="Arial"/>
              </a:defRPr>
            </a:pPr>
            <a:r>
              <a:rPr sz="2175" b="0">
                <a:solidFill>
                  <a:srgbClr val="31485B"/>
                </a:solidFill>
                <a:latin typeface="Arial"/>
                <a:ea typeface="Arial"/>
                <a:cs typeface="Arial"/>
              </a:rPr>
              <a:t>Analysts must connect an event with the exposures it could affect</a:t>
            </a:r>
          </a:p>
          <a:p xmlns:a="http://schemas.openxmlformats.org/drawingml/2006/main">
            <a:r>
              <a:t/>
            </a:r>
          </a:p>
          <a:p xmlns:a="http://schemas.openxmlformats.org/drawingml/2006/main">
            <a:pPr>
              <a:defRPr sz="2175" b="0">
                <a:solidFill>
                  <a:srgbClr val="31485B"/>
                </a:solidFill>
                <a:latin typeface="Arial"/>
                <a:ea typeface="Arial"/>
                <a:cs typeface="Arial"/>
              </a:defRPr>
            </a:pPr>
            <a:r>
              <a:rPr sz="2175" b="0">
                <a:solidFill>
                  <a:srgbClr val="31485B"/>
                </a:solidFill>
                <a:latin typeface="Arial"/>
                <a:ea typeface="Arial"/>
                <a:cs typeface="Arial"/>
              </a:rPr>
              <a:t>One engine emits sentiment, event category and severity evidence</a:t>
            </a:r>
          </a:p>
          <a:p xmlns:a="http://schemas.openxmlformats.org/drawingml/2006/main">
            <a:pPr>
              <a:defRPr sz="2175" b="0">
                <a:solidFill>
                  <a:srgbClr val="31485B"/>
                </a:solidFill>
                <a:latin typeface="Arial"/>
                <a:ea typeface="Arial"/>
                <a:cs typeface="Arial"/>
              </a:defRPr>
            </a:pPr>
            <a:r>
              <a:rPr sz="2175" b="0">
                <a:solidFill>
                  <a:srgbClr val="31485B"/>
                </a:solidFill>
                <a:latin typeface="Arial"/>
                <a:ea typeface="Arial"/>
                <a:cs typeface="Arial"/>
              </a:rPr>
              <a:t>Two consumers demonstrate different decisions:</a:t>
            </a:r>
          </a:p>
          <a:p xmlns:a="http://schemas.openxmlformats.org/drawingml/2006/main">
            <a:pPr>
              <a:defRPr sz="2175" b="0">
                <a:solidFill>
                  <a:srgbClr val="31485B"/>
                </a:solidFill>
                <a:latin typeface="Arial"/>
                <a:ea typeface="Arial"/>
                <a:cs typeface="Arial"/>
              </a:defRPr>
            </a:pPr>
            <a:r>
              <a:rPr sz="2175" b="0">
                <a:solidFill>
                  <a:srgbClr val="31485B"/>
                </a:solidFill>
                <a:latin typeface="Arial"/>
                <a:ea typeface="Arial"/>
                <a:cs typeface="Arial"/>
              </a:rPr>
              <a:t>  Module A changes sentiment weights in a mock stock index</a:t>
            </a:r>
          </a:p>
          <a:p xmlns:a="http://schemas.openxmlformats.org/drawingml/2006/main">
            <a:pPr>
              <a:defRPr sz="2175" b="0">
                <a:solidFill>
                  <a:srgbClr val="31485B"/>
                </a:solidFill>
                <a:latin typeface="Arial"/>
                <a:ea typeface="Arial"/>
                <a:cs typeface="Arial"/>
              </a:defRPr>
            </a:pPr>
            <a:r>
              <a:rPr sz="2175" b="0">
                <a:solidFill>
                  <a:srgbClr val="31485B"/>
                </a:solidFill>
                <a:latin typeface="Arial"/>
                <a:ea typeface="Arial"/>
                <a:cs typeface="Arial"/>
              </a:rPr>
              <a:t>  Module B simulates asset shocks after a high-impact event</a:t>
            </a:r>
          </a:p>
        </p:txBody>
      </p:sp>
      <p:sp>
        <p:nvSpPr>
          <p:cNvPr id="3" name="">
            <a:extLst xmlns:a="http://schemas.openxmlformats.org/drawingml/2006/main">
              <a:ext uri="{FF2B5EF4-FFF2-40B4-BE49-F238E27FC236}">
                <a16:creationId xmlns:a16="http://schemas.microsoft.com/office/drawing/2014/main" id="{EFF50773-1698-42B8-9E70-BDDFEE5144D5}"/>
              </a:ext>
            </a:extLst>
          </p:cNvPr>
          <p:cNvSpPr>
            <a:spLocks xmlns:a="http://schemas.openxmlformats.org/drawingml/2006/main" noGrp="1"/>
          </p:cNvSpPr>
          <p:nvPr/>
        </p:nvSpPr>
        <p:spPr>
          <a:xfrm xmlns:a="http://schemas.openxmlformats.org/drawingml/2006/main">
            <a:off x="704850" y="633412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4798B"/>
                </a:solidFill>
                <a:latin typeface="Arial"/>
                <a:ea typeface="Arial"/>
                <a:cs typeface="Arial"/>
              </a:defRPr>
            </a:defPPr>
          </a:lstStyle>
          <a:p xmlns:a="http://schemas.openxmlformats.org/drawingml/2006/main">
            <a:pPr>
              <a:defRPr sz="1350" b="0">
                <a:solidFill>
                  <a:srgbClr val="64798B"/>
                </a:solidFill>
                <a:latin typeface="Arial"/>
                <a:ea typeface="Arial"/>
                <a:cs typeface="Arial"/>
              </a:defRPr>
            </a:pPr>
            <a:r>
              <a:rPr sz="1350" b="0">
                <a:solidFill>
                  <a:srgbClr val="64798B"/>
                </a:solidFill>
                <a:latin typeface="Arial"/>
                <a:ea typeface="Arial"/>
                <a:cs typeface="Arial"/>
              </a:rPr>
              <a:t>RiskRadar   /   Aarohi Chadha   /   IGDTUW</a:t>
            </a:r>
          </a:p>
        </p:txBody>
      </p:sp>
    </p:spTree>
    <p:extLst>
      <p:ext uri="{BB962C8B-B14F-4D97-AF65-F5344CB8AC3E}">
        <p14:creationId xmlns:p14="http://schemas.microsoft.com/office/powerpoint/2010/main" val="1975204370"/>
      </p:ext>
    </p:extLst>
  </p:cSld>
</p:sld>
</file>

<file path=ppt/slides/slide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682B841-F37D-42E6-A2E3-6E707CC979FA}"/>
              </a:ext>
            </a:extLst>
          </p:cNvPr>
          <p:cNvSpPr>
            <a:spLocks xmlns:a="http://schemas.openxmlformats.org/drawingml/2006/main" noGrp="1"/>
          </p:cNvSpPr>
          <p:nvPr/>
        </p:nvSpPr>
        <p:spPr>
          <a:xfrm xmlns:a="http://schemas.openxmlformats.org/drawingml/2006/main">
            <a:off x="666750" y="52387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638"/>
                </a:solidFill>
                <a:latin typeface="Arial"/>
                <a:ea typeface="Arial"/>
                <a:cs typeface="Arial"/>
              </a:defRPr>
            </a:defPPr>
          </a:lstStyle>
          <a:p xmlns:a="http://schemas.openxmlformats.org/drawingml/2006/main">
            <a:pPr>
              <a:defRPr sz="3225" b="1">
                <a:solidFill>
                  <a:srgbClr val="102638"/>
                </a:solidFill>
                <a:latin typeface="Arial"/>
                <a:ea typeface="Arial"/>
                <a:cs typeface="Arial"/>
              </a:defRPr>
            </a:pPr>
            <a:r>
              <a:rPr sz="3225" b="1">
                <a:solidFill>
                  <a:srgbClr val="102638"/>
                </a:solidFill>
                <a:latin typeface="Arial"/>
                <a:ea typeface="Arial"/>
                <a:cs typeface="Arial"/>
              </a:rPr>
              <a:t>System design</a:t>
            </a:r>
          </a:p>
        </p:txBody>
      </p:sp>
      <p:sp>
        <p:nvSpPr>
          <p:cNvPr id="2" name="">
            <a:extLst xmlns:a="http://schemas.openxmlformats.org/drawingml/2006/main">
              <a:ext uri="{FF2B5EF4-FFF2-40B4-BE49-F238E27FC236}">
                <a16:creationId xmlns:a16="http://schemas.microsoft.com/office/drawing/2014/main" id="{5E916A62-0929-4F07-BB3C-86B4A0B0C8F7}"/>
              </a:ext>
            </a:extLst>
          </p:cNvPr>
          <p:cNvSpPr>
            <a:spLocks xmlns:a="http://schemas.openxmlformats.org/drawingml/2006/main" noGrp="1"/>
          </p:cNvSpPr>
          <p:nvPr/>
        </p:nvSpPr>
        <p:spPr>
          <a:xfrm xmlns:a="http://schemas.openxmlformats.org/drawingml/2006/main">
            <a:off x="704850" y="633412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4798B"/>
                </a:solidFill>
                <a:latin typeface="Arial"/>
                <a:ea typeface="Arial"/>
                <a:cs typeface="Arial"/>
              </a:defRPr>
            </a:defPPr>
          </a:lstStyle>
          <a:p xmlns:a="http://schemas.openxmlformats.org/drawingml/2006/main">
            <a:pPr>
              <a:defRPr sz="1350" b="0">
                <a:solidFill>
                  <a:srgbClr val="64798B"/>
                </a:solidFill>
                <a:latin typeface="Arial"/>
                <a:ea typeface="Arial"/>
                <a:cs typeface="Arial"/>
              </a:defRPr>
            </a:pPr>
            <a:r>
              <a:rPr sz="1350" b="0">
                <a:solidFill>
                  <a:srgbClr val="64798B"/>
                </a:solidFill>
                <a:latin typeface="Arial"/>
                <a:ea typeface="Arial"/>
                <a:cs typeface="Arial"/>
              </a:rPr>
              <a:t>RiskRadar   /   Aarohi Chadha   /   IGDTUW</a:t>
            </a:r>
          </a:p>
        </p:txBody>
      </p:sp>
      <p:sp>
        <p:nvSpPr>
          <p:cNvPr id="3" name="">
            <a:extLst xmlns:a="http://schemas.openxmlformats.org/drawingml/2006/main">
              <a:ext uri="{FF2B5EF4-FFF2-40B4-BE49-F238E27FC236}">
                <a16:creationId xmlns:a16="http://schemas.microsoft.com/office/drawing/2014/main" id="{B7A9A541-7B82-4EE4-8C01-8B74CD5143FE}"/>
              </a:ext>
            </a:extLst>
          </p:cNvPr>
          <p:cNvSpPr>
            <a:spLocks xmlns:a="http://schemas.openxmlformats.org/drawingml/2006/main" noGrp="1"/>
          </p:cNvSpPr>
          <p:nvPr/>
        </p:nvSpPr>
        <p:spPr>
          <a:xfrm xmlns:a="http://schemas.openxmlformats.org/drawingml/2006/main">
            <a:off x="666750" y="1809750"/>
            <a:ext cx="2714625" cy="1000125"/>
          </a:xfrm>
          <a:prstGeom xmlns:a="http://schemas.openxmlformats.org/drawingml/2006/main" prst="rect">
            <a:avLst/>
          </a:prstGeom>
          <a:solidFill xmlns:a="http://schemas.openxmlformats.org/drawingml/2006/main">
            <a:srgbClr val="FFFFFF"/>
          </a:solidFill>
          <a:ln xmlns:a="http://schemas.openxmlformats.org/drawingml/2006/main" w="14288">
            <a:solidFill>
              <a:srgbClr val="91A8B8"/>
            </a:solidFill>
          </a:ln>
        </p:spPr>
        <p:txBody>
          <a:bodyPr xmlns:a="http://schemas.openxmlformats.org/drawingml/2006/main"/>
          <a:lstStyle xmlns:a="http://schemas.openxmlformats.org/drawingml/2006/main">
            <a:defPPr>
              <a:defRPr sz="1725">
                <a:solidFill>
                  <a:srgbClr val="31485B"/>
                </a:solidFill>
                <a:latin typeface="Arial"/>
                <a:ea typeface="Arial"/>
                <a:cs typeface="Arial"/>
              </a:defRPr>
            </a:defPPr>
          </a:lstStyle>
          <a:p xmlns:a="http://schemas.openxmlformats.org/drawingml/2006/main">
            <a:pPr>
              <a:defRPr sz="1725">
                <a:solidFill>
                  <a:srgbClr val="31485B"/>
                </a:solidFill>
                <a:latin typeface="Arial"/>
                <a:ea typeface="Arial"/>
                <a:cs typeface="Arial"/>
              </a:defRPr>
            </a:pPr>
            <a:r>
              <a:rPr sz="1725">
                <a:solidFill>
                  <a:srgbClr val="31485B"/>
                </a:solidFill>
                <a:latin typeface="Arial"/>
                <a:ea typeface="Arial"/>
                <a:cs typeface="Arial"/>
              </a:rPr>
              <a:t>BBC + Guardian RSS</a:t>
            </a:r>
          </a:p>
          <a:p xmlns:a="http://schemas.openxmlformats.org/drawingml/2006/main">
            <a:pPr>
              <a:defRPr sz="1725">
                <a:solidFill>
                  <a:srgbClr val="31485B"/>
                </a:solidFill>
                <a:latin typeface="Arial"/>
                <a:ea typeface="Arial"/>
                <a:cs typeface="Arial"/>
              </a:defRPr>
            </a:pPr>
            <a:r>
              <a:rPr sz="1725">
                <a:solidFill>
                  <a:srgbClr val="31485B"/>
                </a:solidFill>
                <a:latin typeface="Arial"/>
                <a:ea typeface="Arial"/>
                <a:cs typeface="Arial"/>
              </a:rPr>
              <a:t>Source links and timestamps</a:t>
            </a:r>
          </a:p>
        </p:txBody>
      </p:sp>
      <p:sp>
        <p:nvSpPr>
          <p:cNvPr id="4" name="">
            <a:extLst xmlns:a="http://schemas.openxmlformats.org/drawingml/2006/main">
              <a:ext uri="{FF2B5EF4-FFF2-40B4-BE49-F238E27FC236}">
                <a16:creationId xmlns:a16="http://schemas.microsoft.com/office/drawing/2014/main" id="{4519B257-98B1-4EC0-9FD7-9A15A6A6D265}"/>
              </a:ext>
            </a:extLst>
          </p:cNvPr>
          <p:cNvSpPr>
            <a:spLocks xmlns:a="http://schemas.openxmlformats.org/drawingml/2006/main" noGrp="1"/>
          </p:cNvSpPr>
          <p:nvPr/>
        </p:nvSpPr>
        <p:spPr>
          <a:xfrm xmlns:a="http://schemas.openxmlformats.org/drawingml/2006/main">
            <a:off x="666750" y="3238500"/>
            <a:ext cx="2714625" cy="809625"/>
          </a:xfrm>
          <a:prstGeom xmlns:a="http://schemas.openxmlformats.org/drawingml/2006/main" prst="rect">
            <a:avLst/>
          </a:prstGeom>
          <a:solidFill xmlns:a="http://schemas.openxmlformats.org/drawingml/2006/main">
            <a:srgbClr val="FFFFFF"/>
          </a:solidFill>
          <a:ln xmlns:a="http://schemas.openxmlformats.org/drawingml/2006/main" w="14288">
            <a:solidFill>
              <a:srgbClr val="91A8B8"/>
            </a:solidFill>
          </a:ln>
        </p:spPr>
        <p:txBody>
          <a:bodyPr xmlns:a="http://schemas.openxmlformats.org/drawingml/2006/main"/>
          <a:lstStyle xmlns:a="http://schemas.openxmlformats.org/drawingml/2006/main">
            <a:defPPr>
              <a:defRPr sz="1725">
                <a:solidFill>
                  <a:srgbClr val="31485B"/>
                </a:solidFill>
                <a:latin typeface="Arial"/>
                <a:ea typeface="Arial"/>
                <a:cs typeface="Arial"/>
              </a:defRPr>
            </a:defPPr>
          </a:lstStyle>
          <a:p xmlns:a="http://schemas.openxmlformats.org/drawingml/2006/main">
            <a:pPr>
              <a:defRPr sz="1725">
                <a:solidFill>
                  <a:srgbClr val="31485B"/>
                </a:solidFill>
                <a:latin typeface="Arial"/>
                <a:ea typeface="Arial"/>
                <a:cs typeface="Arial"/>
              </a:defRPr>
            </a:pPr>
            <a:r>
              <a:rPr sz="1725">
                <a:solidFill>
                  <a:srgbClr val="31485B"/>
                </a:solidFill>
                <a:latin typeface="Arial"/>
                <a:ea typeface="Arial"/>
                <a:cs typeface="Arial"/>
              </a:rPr>
              <a:t>Manual text / replay JSON</a:t>
            </a:r>
          </a:p>
        </p:txBody>
      </p:sp>
      <p:sp>
        <p:nvSpPr>
          <p:cNvPr id="5" name="">
            <a:extLst xmlns:a="http://schemas.openxmlformats.org/drawingml/2006/main">
              <a:ext uri="{FF2B5EF4-FFF2-40B4-BE49-F238E27FC236}">
                <a16:creationId xmlns:a16="http://schemas.microsoft.com/office/drawing/2014/main" id="{BFF597E8-2519-4A77-9C62-5BB1DDCB3B44}"/>
              </a:ext>
            </a:extLst>
          </p:cNvPr>
          <p:cNvSpPr>
            <a:spLocks xmlns:a="http://schemas.openxmlformats.org/drawingml/2006/main" noGrp="1"/>
          </p:cNvSpPr>
          <p:nvPr/>
        </p:nvSpPr>
        <p:spPr>
          <a:xfrm xmlns:a="http://schemas.openxmlformats.org/drawingml/2006/main">
            <a:off x="4095750" y="2381250"/>
            <a:ext cx="3333750"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91A8B8"/>
            </a:solidFill>
          </a:ln>
        </p:spPr>
        <p:txBody>
          <a:bodyPr xmlns:a="http://schemas.openxmlformats.org/drawingml/2006/main"/>
          <a:lstStyle xmlns:a="http://schemas.openxmlformats.org/drawingml/2006/main">
            <a:defPPr>
              <a:defRPr sz="1725">
                <a:solidFill>
                  <a:srgbClr val="31485B"/>
                </a:solidFill>
                <a:latin typeface="Arial"/>
                <a:ea typeface="Arial"/>
                <a:cs typeface="Arial"/>
              </a:defRPr>
            </a:defPPr>
          </a:lstStyle>
          <a:p xmlns:a="http://schemas.openxmlformats.org/drawingml/2006/main">
            <a:pPr>
              <a:defRPr sz="1725">
                <a:solidFill>
                  <a:srgbClr val="31485B"/>
                </a:solidFill>
                <a:latin typeface="Arial"/>
                <a:ea typeface="Arial"/>
                <a:cs typeface="Arial"/>
              </a:defRPr>
            </a:pPr>
            <a:r>
              <a:rPr sz="1725">
                <a:solidFill>
                  <a:srgbClr val="31485B"/>
                </a:solidFill>
                <a:latin typeface="Arial"/>
                <a:ea typeface="Arial"/>
                <a:cs typeface="Arial"/>
              </a:rPr>
              <a:t>Unified NLP risk engine</a:t>
            </a:r>
          </a:p>
          <a:p xmlns:a="http://schemas.openxmlformats.org/drawingml/2006/main">
            <a:pPr>
              <a:defRPr sz="1725">
                <a:solidFill>
                  <a:srgbClr val="31485B"/>
                </a:solidFill>
                <a:latin typeface="Arial"/>
                <a:ea typeface="Arial"/>
                <a:cs typeface="Arial"/>
              </a:defRPr>
            </a:pPr>
            <a:r>
              <a:rPr sz="1725">
                <a:solidFill>
                  <a:srgbClr val="31485B"/>
                </a:solidFill>
                <a:latin typeface="Arial"/>
                <a:ea typeface="Arial"/>
                <a:cs typeface="Arial"/>
              </a:rPr>
              <a:t>TF-IDF + logistic regression</a:t>
            </a:r>
          </a:p>
          <a:p xmlns:a="http://schemas.openxmlformats.org/drawingml/2006/main">
            <a:pPr>
              <a:defRPr sz="1725">
                <a:solidFill>
                  <a:srgbClr val="31485B"/>
                </a:solidFill>
                <a:latin typeface="Arial"/>
                <a:ea typeface="Arial"/>
                <a:cs typeface="Arial"/>
              </a:defRPr>
            </a:pPr>
            <a:r>
              <a:rPr sz="1725">
                <a:solidFill>
                  <a:srgbClr val="31485B"/>
                </a:solidFill>
                <a:latin typeface="Arial"/>
                <a:ea typeface="Arial"/>
                <a:cs typeface="Arial"/>
              </a:rPr>
              <a:t>Event and impact rules</a:t>
            </a:r>
          </a:p>
        </p:txBody>
      </p:sp>
      <p:sp>
        <p:nvSpPr>
          <p:cNvPr id="6" name="">
            <a:extLst xmlns:a="http://schemas.openxmlformats.org/drawingml/2006/main">
              <a:ext uri="{FF2B5EF4-FFF2-40B4-BE49-F238E27FC236}">
                <a16:creationId xmlns:a16="http://schemas.microsoft.com/office/drawing/2014/main" id="{7F060019-7B7D-431E-871D-141B0F88B042}"/>
              </a:ext>
            </a:extLst>
          </p:cNvPr>
          <p:cNvSpPr>
            <a:spLocks xmlns:a="http://schemas.openxmlformats.org/drawingml/2006/main" noGrp="1"/>
          </p:cNvSpPr>
          <p:nvPr/>
        </p:nvSpPr>
        <p:spPr>
          <a:xfrm xmlns:a="http://schemas.openxmlformats.org/drawingml/2006/main">
            <a:off x="8191500" y="1809750"/>
            <a:ext cx="3333750" cy="1000125"/>
          </a:xfrm>
          <a:prstGeom xmlns:a="http://schemas.openxmlformats.org/drawingml/2006/main" prst="rect">
            <a:avLst/>
          </a:prstGeom>
          <a:solidFill xmlns:a="http://schemas.openxmlformats.org/drawingml/2006/main">
            <a:srgbClr val="FFFFFF"/>
          </a:solidFill>
          <a:ln xmlns:a="http://schemas.openxmlformats.org/drawingml/2006/main" w="14288">
            <a:solidFill>
              <a:srgbClr val="91A8B8"/>
            </a:solidFill>
          </a:ln>
        </p:spPr>
        <p:txBody>
          <a:bodyPr xmlns:a="http://schemas.openxmlformats.org/drawingml/2006/main"/>
          <a:lstStyle xmlns:a="http://schemas.openxmlformats.org/drawingml/2006/main">
            <a:defPPr>
              <a:defRPr sz="1725">
                <a:solidFill>
                  <a:srgbClr val="31485B"/>
                </a:solidFill>
                <a:latin typeface="Arial"/>
                <a:ea typeface="Arial"/>
                <a:cs typeface="Arial"/>
              </a:defRPr>
            </a:defPPr>
          </a:lstStyle>
          <a:p xmlns:a="http://schemas.openxmlformats.org/drawingml/2006/main">
            <a:pPr>
              <a:defRPr sz="1725">
                <a:solidFill>
                  <a:srgbClr val="31485B"/>
                </a:solidFill>
                <a:latin typeface="Arial"/>
                <a:ea typeface="Arial"/>
                <a:cs typeface="Arial"/>
              </a:defRPr>
            </a:pPr>
            <a:r>
              <a:rPr sz="1725">
                <a:solidFill>
                  <a:srgbClr val="31485B"/>
                </a:solidFill>
                <a:latin typeface="Arial"/>
                <a:ea typeface="Arial"/>
                <a:cs typeface="Arial"/>
              </a:rPr>
              <a:t>Module A</a:t>
            </a:r>
          </a:p>
          <a:p xmlns:a="http://schemas.openxmlformats.org/drawingml/2006/main">
            <a:pPr>
              <a:defRPr sz="1725">
                <a:solidFill>
                  <a:srgbClr val="31485B"/>
                </a:solidFill>
                <a:latin typeface="Arial"/>
                <a:ea typeface="Arial"/>
                <a:cs typeface="Arial"/>
              </a:defRPr>
            </a:pPr>
            <a:r>
              <a:rPr sz="1725">
                <a:solidFill>
                  <a:srgbClr val="31485B"/>
                </a:solidFill>
                <a:latin typeface="Arial"/>
                <a:ea typeface="Arial"/>
                <a:cs typeface="Arial"/>
              </a:rPr>
              <a:t>Mock index weights + history</a:t>
            </a:r>
          </a:p>
        </p:txBody>
      </p:sp>
      <p:sp>
        <p:nvSpPr>
          <p:cNvPr id="7" name="">
            <a:extLst xmlns:a="http://schemas.openxmlformats.org/drawingml/2006/main">
              <a:ext uri="{FF2B5EF4-FFF2-40B4-BE49-F238E27FC236}">
                <a16:creationId xmlns:a16="http://schemas.microsoft.com/office/drawing/2014/main" id="{CC2F473C-AAE5-47C3-A827-7F8D6B7BE0F6}"/>
              </a:ext>
            </a:extLst>
          </p:cNvPr>
          <p:cNvSpPr>
            <a:spLocks xmlns:a="http://schemas.openxmlformats.org/drawingml/2006/main" noGrp="1"/>
          </p:cNvSpPr>
          <p:nvPr/>
        </p:nvSpPr>
        <p:spPr>
          <a:xfrm xmlns:a="http://schemas.openxmlformats.org/drawingml/2006/main">
            <a:off x="8191500" y="3238500"/>
            <a:ext cx="3333750" cy="1000125"/>
          </a:xfrm>
          <a:prstGeom xmlns:a="http://schemas.openxmlformats.org/drawingml/2006/main" prst="rect">
            <a:avLst/>
          </a:prstGeom>
          <a:solidFill xmlns:a="http://schemas.openxmlformats.org/drawingml/2006/main">
            <a:srgbClr val="FFFFFF"/>
          </a:solidFill>
          <a:ln xmlns:a="http://schemas.openxmlformats.org/drawingml/2006/main" w="14288">
            <a:solidFill>
              <a:srgbClr val="91A8B8"/>
            </a:solidFill>
          </a:ln>
        </p:spPr>
        <p:txBody>
          <a:bodyPr xmlns:a="http://schemas.openxmlformats.org/drawingml/2006/main"/>
          <a:lstStyle xmlns:a="http://schemas.openxmlformats.org/drawingml/2006/main">
            <a:defPPr>
              <a:defRPr sz="1725">
                <a:solidFill>
                  <a:srgbClr val="31485B"/>
                </a:solidFill>
                <a:latin typeface="Arial"/>
                <a:ea typeface="Arial"/>
                <a:cs typeface="Arial"/>
              </a:defRPr>
            </a:defPPr>
          </a:lstStyle>
          <a:p xmlns:a="http://schemas.openxmlformats.org/drawingml/2006/main">
            <a:pPr>
              <a:defRPr sz="1725">
                <a:solidFill>
                  <a:srgbClr val="31485B"/>
                </a:solidFill>
                <a:latin typeface="Arial"/>
                <a:ea typeface="Arial"/>
                <a:cs typeface="Arial"/>
              </a:defRPr>
            </a:pPr>
            <a:r>
              <a:rPr sz="1725">
                <a:solidFill>
                  <a:srgbClr val="31485B"/>
                </a:solidFill>
                <a:latin typeface="Arial"/>
                <a:ea typeface="Arial"/>
                <a:cs typeface="Arial"/>
              </a:rPr>
              <a:t>Module B</a:t>
            </a:r>
          </a:p>
          <a:p xmlns:a="http://schemas.openxmlformats.org/drawingml/2006/main">
            <a:pPr>
              <a:defRPr sz="1725">
                <a:solidFill>
                  <a:srgbClr val="31485B"/>
                </a:solidFill>
                <a:latin typeface="Arial"/>
                <a:ea typeface="Arial"/>
                <a:cs typeface="Arial"/>
              </a:defRPr>
            </a:pPr>
            <a:r>
              <a:rPr sz="1725">
                <a:solidFill>
                  <a:srgbClr val="31485B"/>
                </a:solidFill>
                <a:latin typeface="Arial"/>
                <a:ea typeface="Arial"/>
                <a:cs typeface="Arial"/>
              </a:rPr>
              <a:t>Impact &gt; 7 triggers stress</a:t>
            </a:r>
          </a:p>
        </p:txBody>
      </p:sp>
      <p:sp>
        <p:nvSpPr>
          <p:cNvPr id="8" name="">
            <a:extLst xmlns:a="http://schemas.openxmlformats.org/drawingml/2006/main">
              <a:ext uri="{FF2B5EF4-FFF2-40B4-BE49-F238E27FC236}">
                <a16:creationId xmlns:a16="http://schemas.microsoft.com/office/drawing/2014/main" id="{5051428A-413E-40B8-8509-74D697B00328}"/>
              </a:ext>
            </a:extLst>
          </p:cNvPr>
          <p:cNvSpPr>
            <a:spLocks xmlns:a="http://schemas.openxmlformats.org/drawingml/2006/main" noGrp="1"/>
          </p:cNvSpPr>
          <p:nvPr/>
        </p:nvSpPr>
        <p:spPr>
          <a:xfrm xmlns:a="http://schemas.openxmlformats.org/drawingml/2006/main">
            <a:off x="4095750" y="4667250"/>
            <a:ext cx="3333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91A8B8"/>
            </a:solidFill>
          </a:ln>
        </p:spPr>
        <p:txBody>
          <a:bodyPr xmlns:a="http://schemas.openxmlformats.org/drawingml/2006/main"/>
          <a:lstStyle xmlns:a="http://schemas.openxmlformats.org/drawingml/2006/main">
            <a:defPPr>
              <a:defRPr sz="1725">
                <a:solidFill>
                  <a:srgbClr val="31485B"/>
                </a:solidFill>
                <a:latin typeface="Arial"/>
                <a:ea typeface="Arial"/>
                <a:cs typeface="Arial"/>
              </a:defRPr>
            </a:defPPr>
          </a:lstStyle>
          <a:p xmlns:a="http://schemas.openxmlformats.org/drawingml/2006/main">
            <a:pPr>
              <a:defRPr sz="1725">
                <a:solidFill>
                  <a:srgbClr val="31485B"/>
                </a:solidFill>
                <a:latin typeface="Arial"/>
                <a:ea typeface="Arial"/>
                <a:cs typeface="Arial"/>
              </a:defRPr>
            </a:pPr>
            <a:r>
              <a:rPr sz="1725">
                <a:solidFill>
                  <a:srgbClr val="31485B"/>
                </a:solidFill>
                <a:latin typeface="Arial"/>
                <a:ea typeface="Arial"/>
                <a:cs typeface="Arial"/>
              </a:rPr>
              <a:t>JSON API / exports</a:t>
            </a:r>
          </a:p>
          <a:p xmlns:a="http://schemas.openxmlformats.org/drawingml/2006/main">
            <a:pPr>
              <a:defRPr sz="1725">
                <a:solidFill>
                  <a:srgbClr val="31485B"/>
                </a:solidFill>
                <a:latin typeface="Arial"/>
                <a:ea typeface="Arial"/>
                <a:cs typeface="Arial"/>
              </a:defRPr>
            </a:pPr>
            <a:r>
              <a:rPr sz="1725">
                <a:solidFill>
                  <a:srgbClr val="31485B"/>
                </a:solidFill>
                <a:latin typeface="Arial"/>
                <a:ea typeface="Arial"/>
                <a:cs typeface="Arial"/>
              </a:rPr>
              <a:t>Local SQLite or browser memory</a:t>
            </a:r>
          </a:p>
        </p:txBody>
      </p:sp>
      <p:sp>
        <p:nvSpPr>
          <p:cNvPr id="9" name="">
            <a:extLst xmlns:a="http://schemas.openxmlformats.org/drawingml/2006/main">
              <a:ext uri="{FF2B5EF4-FFF2-40B4-BE49-F238E27FC236}">
                <a16:creationId xmlns:a16="http://schemas.microsoft.com/office/drawing/2014/main" id="{C79A5091-314E-4281-8756-72770E0EAC5A}"/>
              </a:ext>
            </a:extLst>
          </p:cNvPr>
          <p:cNvSpPr>
            <a:spLocks xmlns:a="http://schemas.openxmlformats.org/drawingml/2006/main" noGrp="1"/>
          </p:cNvSpPr>
          <p:nvPr/>
        </p:nvSpPr>
        <p:spPr>
          <a:xfrm xmlns:a="http://schemas.openxmlformats.org/drawingml/2006/main">
            <a:off x="3381375" y="2333625"/>
            <a:ext cx="333375" cy="0"/>
          </a:xfrm>
          <a:prstGeom xmlns:a="http://schemas.openxmlformats.org/drawingml/2006/main" prst="line">
            <a:avLst/>
          </a:prstGeom>
          <a:noFill xmlns:a="http://schemas.openxmlformats.org/drawingml/2006/main"/>
          <a:ln xmlns:a="http://schemas.openxmlformats.org/drawingml/2006/main" w="28575">
            <a:solidFill>
              <a:srgbClr val="067B70"/>
            </a:solidFill>
          </a:ln>
        </p:spPr>
      </p:sp>
      <p:sp>
        <p:nvSpPr>
          <p:cNvPr id="10" name="">
            <a:extLst xmlns:a="http://schemas.openxmlformats.org/drawingml/2006/main">
              <a:ext uri="{FF2B5EF4-FFF2-40B4-BE49-F238E27FC236}">
                <a16:creationId xmlns:a16="http://schemas.microsoft.com/office/drawing/2014/main" id="{D97AC17F-8B80-4267-A3AF-BC010A6C6229}"/>
              </a:ext>
            </a:extLst>
          </p:cNvPr>
          <p:cNvSpPr>
            <a:spLocks xmlns:a="http://schemas.openxmlformats.org/drawingml/2006/main" noGrp="1"/>
          </p:cNvSpPr>
          <p:nvPr/>
        </p:nvSpPr>
        <p:spPr>
          <a:xfrm xmlns:a="http://schemas.openxmlformats.org/drawingml/2006/main">
            <a:off x="3714750" y="2333625"/>
            <a:ext cx="0" cy="428625"/>
          </a:xfrm>
          <a:prstGeom xmlns:a="http://schemas.openxmlformats.org/drawingml/2006/main" prst="line">
            <a:avLst/>
          </a:prstGeom>
          <a:noFill xmlns:a="http://schemas.openxmlformats.org/drawingml/2006/main"/>
          <a:ln xmlns:a="http://schemas.openxmlformats.org/drawingml/2006/main" w="28575">
            <a:solidFill>
              <a:srgbClr val="067B70"/>
            </a:solidFill>
          </a:ln>
        </p:spPr>
      </p:sp>
      <p:sp>
        <p:nvSpPr>
          <p:cNvPr id="11" name="">
            <a:extLst xmlns:a="http://schemas.openxmlformats.org/drawingml/2006/main">
              <a:ext uri="{FF2B5EF4-FFF2-40B4-BE49-F238E27FC236}">
                <a16:creationId xmlns:a16="http://schemas.microsoft.com/office/drawing/2014/main" id="{1758C7BD-B583-4A22-B76D-8B330EC5619A}"/>
              </a:ext>
            </a:extLst>
          </p:cNvPr>
          <p:cNvSpPr>
            <a:spLocks xmlns:a="http://schemas.openxmlformats.org/drawingml/2006/main" noGrp="1"/>
          </p:cNvSpPr>
          <p:nvPr/>
        </p:nvSpPr>
        <p:spPr>
          <a:xfrm xmlns:a="http://schemas.openxmlformats.org/drawingml/2006/main">
            <a:off x="3714750" y="2762250"/>
            <a:ext cx="381000" cy="0"/>
          </a:xfrm>
          <a:prstGeom xmlns:a="http://schemas.openxmlformats.org/drawingml/2006/main" prst="line">
            <a:avLst/>
          </a:prstGeom>
          <a:noFill xmlns:a="http://schemas.openxmlformats.org/drawingml/2006/main"/>
          <a:ln xmlns:a="http://schemas.openxmlformats.org/drawingml/2006/main" w="28575">
            <a:solidFill>
              <a:srgbClr val="067B70"/>
            </a:solidFill>
          </a:ln>
        </p:spPr>
      </p:sp>
      <p:sp>
        <p:nvSpPr>
          <p:cNvPr id="12" name="">
            <a:extLst xmlns:a="http://schemas.openxmlformats.org/drawingml/2006/main">
              <a:ext uri="{FF2B5EF4-FFF2-40B4-BE49-F238E27FC236}">
                <a16:creationId xmlns:a16="http://schemas.microsoft.com/office/drawing/2014/main" id="{BA690867-1227-4912-891E-CC54E3B03A7F}"/>
              </a:ext>
            </a:extLst>
          </p:cNvPr>
          <p:cNvSpPr>
            <a:spLocks xmlns:a="http://schemas.openxmlformats.org/drawingml/2006/main" noGrp="1"/>
          </p:cNvSpPr>
          <p:nvPr/>
        </p:nvSpPr>
        <p:spPr>
          <a:xfrm xmlns:a="http://schemas.openxmlformats.org/drawingml/2006/main">
            <a:off x="3381375" y="3648075"/>
            <a:ext cx="333375" cy="0"/>
          </a:xfrm>
          <a:prstGeom xmlns:a="http://schemas.openxmlformats.org/drawingml/2006/main" prst="line">
            <a:avLst/>
          </a:prstGeom>
          <a:noFill xmlns:a="http://schemas.openxmlformats.org/drawingml/2006/main"/>
          <a:ln xmlns:a="http://schemas.openxmlformats.org/drawingml/2006/main" w="28575">
            <a:solidFill>
              <a:srgbClr val="067B70"/>
            </a:solidFill>
          </a:ln>
        </p:spPr>
      </p:sp>
      <p:sp>
        <p:nvSpPr>
          <p:cNvPr id="13" name="">
            <a:extLst xmlns:a="http://schemas.openxmlformats.org/drawingml/2006/main">
              <a:ext uri="{FF2B5EF4-FFF2-40B4-BE49-F238E27FC236}">
                <a16:creationId xmlns:a16="http://schemas.microsoft.com/office/drawing/2014/main" id="{D54D6E99-100C-4CE0-9FD0-EC169751DFAB}"/>
              </a:ext>
            </a:extLst>
          </p:cNvPr>
          <p:cNvSpPr>
            <a:spLocks xmlns:a="http://schemas.openxmlformats.org/drawingml/2006/main" noGrp="1"/>
          </p:cNvSpPr>
          <p:nvPr/>
        </p:nvSpPr>
        <p:spPr>
          <a:xfrm xmlns:a="http://schemas.openxmlformats.org/drawingml/2006/main">
            <a:off x="3714750" y="3362325"/>
            <a:ext cx="0" cy="285750"/>
          </a:xfrm>
          <a:prstGeom xmlns:a="http://schemas.openxmlformats.org/drawingml/2006/main" prst="line">
            <a:avLst/>
          </a:prstGeom>
          <a:noFill xmlns:a="http://schemas.openxmlformats.org/drawingml/2006/main"/>
          <a:ln xmlns:a="http://schemas.openxmlformats.org/drawingml/2006/main" w="28575">
            <a:solidFill>
              <a:srgbClr val="067B70"/>
            </a:solidFill>
          </a:ln>
        </p:spPr>
      </p:sp>
      <p:sp>
        <p:nvSpPr>
          <p:cNvPr id="14" name="">
            <a:extLst xmlns:a="http://schemas.openxmlformats.org/drawingml/2006/main">
              <a:ext uri="{FF2B5EF4-FFF2-40B4-BE49-F238E27FC236}">
                <a16:creationId xmlns:a16="http://schemas.microsoft.com/office/drawing/2014/main" id="{1C79ACB4-4A94-4EB0-89CE-56134882AF61}"/>
              </a:ext>
            </a:extLst>
          </p:cNvPr>
          <p:cNvSpPr>
            <a:spLocks xmlns:a="http://schemas.openxmlformats.org/drawingml/2006/main" noGrp="1"/>
          </p:cNvSpPr>
          <p:nvPr/>
        </p:nvSpPr>
        <p:spPr>
          <a:xfrm xmlns:a="http://schemas.openxmlformats.org/drawingml/2006/main">
            <a:off x="3714750" y="3362325"/>
            <a:ext cx="381000" cy="0"/>
          </a:xfrm>
          <a:prstGeom xmlns:a="http://schemas.openxmlformats.org/drawingml/2006/main" prst="line">
            <a:avLst/>
          </a:prstGeom>
          <a:noFill xmlns:a="http://schemas.openxmlformats.org/drawingml/2006/main"/>
          <a:ln xmlns:a="http://schemas.openxmlformats.org/drawingml/2006/main" w="28575">
            <a:solidFill>
              <a:srgbClr val="067B70"/>
            </a:solidFill>
          </a:ln>
        </p:spPr>
      </p:sp>
      <p:sp>
        <p:nvSpPr>
          <p:cNvPr id="15" name="">
            <a:extLst xmlns:a="http://schemas.openxmlformats.org/drawingml/2006/main">
              <a:ext uri="{FF2B5EF4-FFF2-40B4-BE49-F238E27FC236}">
                <a16:creationId xmlns:a16="http://schemas.microsoft.com/office/drawing/2014/main" id="{18BAD8B4-C26F-4360-8943-9312D8F7FF47}"/>
              </a:ext>
            </a:extLst>
          </p:cNvPr>
          <p:cNvSpPr>
            <a:spLocks xmlns:a="http://schemas.openxmlformats.org/drawingml/2006/main" noGrp="1"/>
          </p:cNvSpPr>
          <p:nvPr/>
        </p:nvSpPr>
        <p:spPr>
          <a:xfrm xmlns:a="http://schemas.openxmlformats.org/drawingml/2006/main">
            <a:off x="7429500" y="2762250"/>
            <a:ext cx="381000" cy="0"/>
          </a:xfrm>
          <a:prstGeom xmlns:a="http://schemas.openxmlformats.org/drawingml/2006/main" prst="line">
            <a:avLst/>
          </a:prstGeom>
          <a:noFill xmlns:a="http://schemas.openxmlformats.org/drawingml/2006/main"/>
          <a:ln xmlns:a="http://schemas.openxmlformats.org/drawingml/2006/main" w="28575">
            <a:solidFill>
              <a:srgbClr val="067B70"/>
            </a:solidFill>
          </a:ln>
        </p:spPr>
      </p:sp>
      <p:sp>
        <p:nvSpPr>
          <p:cNvPr id="16" name="">
            <a:extLst xmlns:a="http://schemas.openxmlformats.org/drawingml/2006/main">
              <a:ext uri="{FF2B5EF4-FFF2-40B4-BE49-F238E27FC236}">
                <a16:creationId xmlns:a16="http://schemas.microsoft.com/office/drawing/2014/main" id="{C8697CFB-75E8-4B22-BCB0-FE217E1E65C1}"/>
              </a:ext>
            </a:extLst>
          </p:cNvPr>
          <p:cNvSpPr>
            <a:spLocks xmlns:a="http://schemas.openxmlformats.org/drawingml/2006/main" noGrp="1"/>
          </p:cNvSpPr>
          <p:nvPr/>
        </p:nvSpPr>
        <p:spPr>
          <a:xfrm xmlns:a="http://schemas.openxmlformats.org/drawingml/2006/main">
            <a:off x="7810500" y="2333625"/>
            <a:ext cx="0" cy="428625"/>
          </a:xfrm>
          <a:prstGeom xmlns:a="http://schemas.openxmlformats.org/drawingml/2006/main" prst="line">
            <a:avLst/>
          </a:prstGeom>
          <a:noFill xmlns:a="http://schemas.openxmlformats.org/drawingml/2006/main"/>
          <a:ln xmlns:a="http://schemas.openxmlformats.org/drawingml/2006/main" w="28575">
            <a:solidFill>
              <a:srgbClr val="067B70"/>
            </a:solidFill>
          </a:ln>
        </p:spPr>
      </p:sp>
      <p:sp>
        <p:nvSpPr>
          <p:cNvPr id="17" name="">
            <a:extLst xmlns:a="http://schemas.openxmlformats.org/drawingml/2006/main">
              <a:ext uri="{FF2B5EF4-FFF2-40B4-BE49-F238E27FC236}">
                <a16:creationId xmlns:a16="http://schemas.microsoft.com/office/drawing/2014/main" id="{99591425-9C6B-4441-8206-7F91EC907CD1}"/>
              </a:ext>
            </a:extLst>
          </p:cNvPr>
          <p:cNvSpPr>
            <a:spLocks xmlns:a="http://schemas.openxmlformats.org/drawingml/2006/main" noGrp="1"/>
          </p:cNvSpPr>
          <p:nvPr/>
        </p:nvSpPr>
        <p:spPr>
          <a:xfrm xmlns:a="http://schemas.openxmlformats.org/drawingml/2006/main">
            <a:off x="7810500" y="2333625"/>
            <a:ext cx="381000" cy="0"/>
          </a:xfrm>
          <a:prstGeom xmlns:a="http://schemas.openxmlformats.org/drawingml/2006/main" prst="line">
            <a:avLst/>
          </a:prstGeom>
          <a:noFill xmlns:a="http://schemas.openxmlformats.org/drawingml/2006/main"/>
          <a:ln xmlns:a="http://schemas.openxmlformats.org/drawingml/2006/main" w="28575">
            <a:solidFill>
              <a:srgbClr val="067B70"/>
            </a:solidFill>
          </a:ln>
        </p:spPr>
      </p:sp>
      <p:sp>
        <p:nvSpPr>
          <p:cNvPr id="18" name="">
            <a:extLst xmlns:a="http://schemas.openxmlformats.org/drawingml/2006/main">
              <a:ext uri="{FF2B5EF4-FFF2-40B4-BE49-F238E27FC236}">
                <a16:creationId xmlns:a16="http://schemas.microsoft.com/office/drawing/2014/main" id="{9BF52E34-757D-4CA2-9030-246845225FDB}"/>
              </a:ext>
            </a:extLst>
          </p:cNvPr>
          <p:cNvSpPr>
            <a:spLocks xmlns:a="http://schemas.openxmlformats.org/drawingml/2006/main" noGrp="1"/>
          </p:cNvSpPr>
          <p:nvPr/>
        </p:nvSpPr>
        <p:spPr>
          <a:xfrm xmlns:a="http://schemas.openxmlformats.org/drawingml/2006/main">
            <a:off x="7429500" y="3571875"/>
            <a:ext cx="762000" cy="0"/>
          </a:xfrm>
          <a:prstGeom xmlns:a="http://schemas.openxmlformats.org/drawingml/2006/main" prst="line">
            <a:avLst/>
          </a:prstGeom>
          <a:noFill xmlns:a="http://schemas.openxmlformats.org/drawingml/2006/main"/>
          <a:ln xmlns:a="http://schemas.openxmlformats.org/drawingml/2006/main" w="28575">
            <a:solidFill>
              <a:srgbClr val="067B70"/>
            </a:solidFill>
          </a:ln>
        </p:spPr>
      </p:sp>
      <p:sp>
        <p:nvSpPr>
          <p:cNvPr id="19" name="">
            <a:extLst xmlns:a="http://schemas.openxmlformats.org/drawingml/2006/main">
              <a:ext uri="{FF2B5EF4-FFF2-40B4-BE49-F238E27FC236}">
                <a16:creationId xmlns:a16="http://schemas.microsoft.com/office/drawing/2014/main" id="{08B2AC32-A7FC-479A-B64F-C8F148D3AAD6}"/>
              </a:ext>
            </a:extLst>
          </p:cNvPr>
          <p:cNvSpPr>
            <a:spLocks xmlns:a="http://schemas.openxmlformats.org/drawingml/2006/main" noGrp="1"/>
          </p:cNvSpPr>
          <p:nvPr/>
        </p:nvSpPr>
        <p:spPr>
          <a:xfrm xmlns:a="http://schemas.openxmlformats.org/drawingml/2006/main">
            <a:off x="5762625" y="3952875"/>
            <a:ext cx="0" cy="714375"/>
          </a:xfrm>
          <a:prstGeom xmlns:a="http://schemas.openxmlformats.org/drawingml/2006/main" prst="line">
            <a:avLst/>
          </a:prstGeom>
          <a:noFill xmlns:a="http://schemas.openxmlformats.org/drawingml/2006/main"/>
          <a:ln xmlns:a="http://schemas.openxmlformats.org/drawingml/2006/main" w="28575">
            <a:solidFill>
              <a:srgbClr val="067B70"/>
            </a:solidFill>
          </a:ln>
        </p:spPr>
      </p:sp>
      <p:sp>
        <p:nvSpPr>
          <p:cNvPr id="20" name="">
            <a:extLst xmlns:a="http://schemas.openxmlformats.org/drawingml/2006/main">
              <a:ext uri="{FF2B5EF4-FFF2-40B4-BE49-F238E27FC236}">
                <a16:creationId xmlns:a16="http://schemas.microsoft.com/office/drawing/2014/main" id="{3B7AA100-E089-462B-BC14-F3989D644B73}"/>
              </a:ext>
            </a:extLst>
          </p:cNvPr>
          <p:cNvSpPr>
            <a:spLocks xmlns:a="http://schemas.openxmlformats.org/drawingml/2006/main" noGrp="1"/>
          </p:cNvSpPr>
          <p:nvPr/>
        </p:nvSpPr>
        <p:spPr>
          <a:xfrm xmlns:a="http://schemas.openxmlformats.org/drawingml/2006/main">
            <a:off x="704850" y="58102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4798B"/>
                </a:solidFill>
                <a:latin typeface="Arial"/>
                <a:ea typeface="Arial"/>
                <a:cs typeface="Arial"/>
              </a:defRPr>
            </a:defPPr>
          </a:lstStyle>
          <a:p xmlns:a="http://schemas.openxmlformats.org/drawingml/2006/main">
            <a:pPr>
              <a:defRPr sz="1725" b="0">
                <a:solidFill>
                  <a:srgbClr val="64798B"/>
                </a:solidFill>
                <a:latin typeface="Arial"/>
                <a:ea typeface="Arial"/>
                <a:cs typeface="Arial"/>
              </a:defRPr>
            </a:pPr>
            <a:r>
              <a:rPr sz="1725" b="0">
                <a:solidFill>
                  <a:srgbClr val="64798B"/>
                </a:solidFill>
                <a:latin typeface="Arial"/>
                <a:ea typeface="Arial"/>
                <a:cs typeface="Arial"/>
              </a:rPr>
              <a:t>Input records feed the engine, then both modules consume its structured output.</a:t>
            </a:r>
          </a:p>
        </p:txBody>
      </p:sp>
    </p:spTree>
    <p:extLst>
      <p:ext uri="{BB962C8B-B14F-4D97-AF65-F5344CB8AC3E}">
        <p14:creationId xmlns:p14="http://schemas.microsoft.com/office/powerpoint/2010/main" val="1077990311"/>
      </p:ext>
    </p:extLst>
  </p:cSld>
</p:sld>
</file>

<file path=ppt/slides/slide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7CA7FF7-1644-45FE-AE31-902E07688514}"/>
              </a:ext>
            </a:extLst>
          </p:cNvPr>
          <p:cNvSpPr>
            <a:spLocks xmlns:a="http://schemas.openxmlformats.org/drawingml/2006/main" noGrp="1"/>
          </p:cNvSpPr>
          <p:nvPr/>
        </p:nvSpPr>
        <p:spPr>
          <a:xfrm xmlns:a="http://schemas.openxmlformats.org/drawingml/2006/main">
            <a:off x="666750" y="52387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638"/>
                </a:solidFill>
                <a:latin typeface="Arial"/>
                <a:ea typeface="Arial"/>
                <a:cs typeface="Arial"/>
              </a:defRPr>
            </a:defPPr>
          </a:lstStyle>
          <a:p xmlns:a="http://schemas.openxmlformats.org/drawingml/2006/main">
            <a:pPr>
              <a:defRPr sz="3225" b="1">
                <a:solidFill>
                  <a:srgbClr val="102638"/>
                </a:solidFill>
                <a:latin typeface="Arial"/>
                <a:ea typeface="Arial"/>
                <a:cs typeface="Arial"/>
              </a:defRPr>
            </a:pPr>
            <a:r>
              <a:rPr sz="3225" b="1">
                <a:solidFill>
                  <a:srgbClr val="102638"/>
                </a:solidFill>
                <a:latin typeface="Arial"/>
                <a:ea typeface="Arial"/>
                <a:cs typeface="Arial"/>
              </a:rPr>
              <a:t>Implementation and sentiment results</a:t>
            </a:r>
          </a:p>
        </p:txBody>
      </p:sp>
      <p:sp>
        <p:nvSpPr>
          <p:cNvPr id="2" name="">
            <a:extLst xmlns:a="http://schemas.openxmlformats.org/drawingml/2006/main">
              <a:ext uri="{FF2B5EF4-FFF2-40B4-BE49-F238E27FC236}">
                <a16:creationId xmlns:a16="http://schemas.microsoft.com/office/drawing/2014/main" id="{FF11F36C-80F6-472F-91D7-703FB0F467C7}"/>
              </a:ext>
            </a:extLst>
          </p:cNvPr>
          <p:cNvSpPr>
            <a:spLocks xmlns:a="http://schemas.openxmlformats.org/drawingml/2006/main" noGrp="1"/>
          </p:cNvSpPr>
          <p:nvPr/>
        </p:nvSpPr>
        <p:spPr>
          <a:xfrm xmlns:a="http://schemas.openxmlformats.org/drawingml/2006/main">
            <a:off x="704850" y="1666875"/>
            <a:ext cx="105727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31485B"/>
                </a:solidFill>
                <a:latin typeface="Arial"/>
                <a:ea typeface="Arial"/>
                <a:cs typeface="Arial"/>
              </a:defRPr>
            </a:defPPr>
          </a:lstStyle>
          <a:p xmlns:a="http://schemas.openxmlformats.org/drawingml/2006/main">
            <a:pPr>
              <a:defRPr sz="2175" b="0">
                <a:solidFill>
                  <a:srgbClr val="31485B"/>
                </a:solidFill>
                <a:latin typeface="Arial"/>
                <a:ea typeface="Arial"/>
                <a:cs typeface="Arial"/>
              </a:defRPr>
            </a:pPr>
            <a:r>
              <a:rPr sz="2175" b="0">
                <a:solidFill>
                  <a:srgbClr val="31485B"/>
                </a:solidFill>
                <a:latin typeface="Arial"/>
                <a:ea typeface="Arial"/>
                <a:cs typeface="Arial"/>
              </a:rPr>
              <a:t>Training: financial tweets from the public zeroshot dataset</a:t>
            </a:r>
          </a:p>
          <a:p xmlns:a="http://schemas.openxmlformats.org/drawingml/2006/main">
            <a:pPr>
              <a:defRPr sz="2175" b="0">
                <a:solidFill>
                  <a:srgbClr val="31485B"/>
                </a:solidFill>
                <a:latin typeface="Arial"/>
                <a:ea typeface="Arial"/>
                <a:cs typeface="Arial"/>
              </a:defRPr>
            </a:pPr>
            <a:r>
              <a:rPr sz="2175" b="0">
                <a:solidFill>
                  <a:srgbClr val="31485B"/>
                </a:solidFill>
                <a:latin typeface="Arial"/>
                <a:ea typeface="Arial"/>
                <a:cs typeface="Arial"/>
              </a:rPr>
              <a:t>9,374 training records and 2,318 evaluation records after cleaning</a:t>
            </a:r>
          </a:p>
          <a:p xmlns:a="http://schemas.openxmlformats.org/drawingml/2006/main">
            <a:r>
              <a:t/>
            </a:r>
          </a:p>
          <a:p xmlns:a="http://schemas.openxmlformats.org/drawingml/2006/main">
            <a:pPr>
              <a:defRPr sz="2175" b="0">
                <a:solidFill>
                  <a:srgbClr val="31485B"/>
                </a:solidFill>
                <a:latin typeface="Arial"/>
                <a:ea typeface="Arial"/>
                <a:cs typeface="Arial"/>
              </a:defRPr>
            </a:pPr>
            <a:r>
              <a:rPr sz="2175" b="0">
                <a:solidFill>
                  <a:srgbClr val="31485B"/>
                </a:solidFill>
                <a:latin typeface="Arial"/>
                <a:ea typeface="Arial"/>
                <a:cs typeface="Arial"/>
              </a:rPr>
              <a:t>Sentiment accuracy 82.05%     Macro F1 0.761</a:t>
            </a:r>
          </a:p>
          <a:p xmlns:a="http://schemas.openxmlformats.org/drawingml/2006/main">
            <a:pPr>
              <a:defRPr sz="2175" b="0">
                <a:solidFill>
                  <a:srgbClr val="31485B"/>
                </a:solidFill>
                <a:latin typeface="Arial"/>
                <a:ea typeface="Arial"/>
                <a:cs typeface="Arial"/>
              </a:defRPr>
            </a:pPr>
            <a:r>
              <a:rPr sz="2175" b="0">
                <a:solidFill>
                  <a:srgbClr val="31485B"/>
                </a:solidFill>
                <a:latin typeface="Arial"/>
                <a:ea typeface="Arial"/>
                <a:cs typeface="Arial"/>
              </a:rPr>
              <a:t>Exact duplicates, label conflicts and split overlap removed</a:t>
            </a:r>
          </a:p>
          <a:p xmlns:a="http://schemas.openxmlformats.org/drawingml/2006/main">
            <a:r>
              <a:t/>
            </a:r>
          </a:p>
          <a:p xmlns:a="http://schemas.openxmlformats.org/drawingml/2006/main">
            <a:pPr>
              <a:defRPr sz="2175" b="0">
                <a:solidFill>
                  <a:srgbClr val="31485B"/>
                </a:solidFill>
                <a:latin typeface="Arial"/>
                <a:ea typeface="Arial"/>
                <a:cs typeface="Arial"/>
              </a:defRPr>
            </a:pPr>
            <a:r>
              <a:rPr sz="2175" b="0">
                <a:solidFill>
                  <a:srgbClr val="31485B"/>
                </a:solidFill>
                <a:latin typeface="Arial"/>
                <a:ea typeface="Arial"/>
                <a:cs typeface="Arial"/>
              </a:rPr>
              <a:t>Portable Python/JS inference and JSON outputs</a:t>
            </a:r>
          </a:p>
          <a:p xmlns:a="http://schemas.openxmlformats.org/drawingml/2006/main">
            <a:pPr>
              <a:defRPr sz="2175" b="0">
                <a:solidFill>
                  <a:srgbClr val="31485B"/>
                </a:solidFill>
                <a:latin typeface="Arial"/>
                <a:ea typeface="Arial"/>
                <a:cs typeface="Arial"/>
              </a:defRPr>
            </a:pPr>
            <a:r>
              <a:rPr sz="2175" b="0">
                <a:solidFill>
                  <a:srgbClr val="31485B"/>
                </a:solidFill>
                <a:latin typeface="Arial"/>
                <a:ea typeface="Arial"/>
                <a:cs typeface="Arial"/>
              </a:rPr>
              <a:t>Event category and impact remain transparent keyword heuristics</a:t>
            </a:r>
          </a:p>
        </p:txBody>
      </p:sp>
      <p:sp>
        <p:nvSpPr>
          <p:cNvPr id="3" name="">
            <a:extLst xmlns:a="http://schemas.openxmlformats.org/drawingml/2006/main">
              <a:ext uri="{FF2B5EF4-FFF2-40B4-BE49-F238E27FC236}">
                <a16:creationId xmlns:a16="http://schemas.microsoft.com/office/drawing/2014/main" id="{010ABAAA-ADFF-4A98-9A86-486CB9E45B15}"/>
              </a:ext>
            </a:extLst>
          </p:cNvPr>
          <p:cNvSpPr>
            <a:spLocks xmlns:a="http://schemas.openxmlformats.org/drawingml/2006/main" noGrp="1"/>
          </p:cNvSpPr>
          <p:nvPr/>
        </p:nvSpPr>
        <p:spPr>
          <a:xfrm xmlns:a="http://schemas.openxmlformats.org/drawingml/2006/main">
            <a:off x="704850" y="633412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4798B"/>
                </a:solidFill>
                <a:latin typeface="Arial"/>
                <a:ea typeface="Arial"/>
                <a:cs typeface="Arial"/>
              </a:defRPr>
            </a:defPPr>
          </a:lstStyle>
          <a:p xmlns:a="http://schemas.openxmlformats.org/drawingml/2006/main">
            <a:pPr>
              <a:defRPr sz="1350" b="0">
                <a:solidFill>
                  <a:srgbClr val="64798B"/>
                </a:solidFill>
                <a:latin typeface="Arial"/>
                <a:ea typeface="Arial"/>
                <a:cs typeface="Arial"/>
              </a:defRPr>
            </a:pPr>
            <a:r>
              <a:rPr sz="1350" b="0">
                <a:solidFill>
                  <a:srgbClr val="64798B"/>
                </a:solidFill>
                <a:latin typeface="Arial"/>
                <a:ea typeface="Arial"/>
                <a:cs typeface="Arial"/>
              </a:rPr>
              <a:t>RiskRadar   /   Aarohi Chadha   /   IGDTUW</a:t>
            </a:r>
          </a:p>
        </p:txBody>
      </p:sp>
    </p:spTree>
    <p:extLst>
      <p:ext uri="{BB962C8B-B14F-4D97-AF65-F5344CB8AC3E}">
        <p14:creationId xmlns:p14="http://schemas.microsoft.com/office/powerpoint/2010/main" val="708506943"/>
      </p:ext>
    </p:extLst>
  </p:cSld>
</p:sld>
</file>

<file path=ppt/slides/slide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0007FF6-C47E-4317-AFE7-128D723E43BE}"/>
              </a:ext>
            </a:extLst>
          </p:cNvPr>
          <p:cNvSpPr>
            <a:spLocks xmlns:a="http://schemas.openxmlformats.org/drawingml/2006/main" noGrp="1"/>
          </p:cNvSpPr>
          <p:nvPr/>
        </p:nvSpPr>
        <p:spPr>
          <a:xfrm xmlns:a="http://schemas.openxmlformats.org/drawingml/2006/main">
            <a:off x="666750" y="52387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638"/>
                </a:solidFill>
                <a:latin typeface="Arial"/>
                <a:ea typeface="Arial"/>
                <a:cs typeface="Arial"/>
              </a:defRPr>
            </a:defPPr>
          </a:lstStyle>
          <a:p xmlns:a="http://schemas.openxmlformats.org/drawingml/2006/main">
            <a:pPr>
              <a:defRPr sz="3225" b="1">
                <a:solidFill>
                  <a:srgbClr val="102638"/>
                </a:solidFill>
                <a:latin typeface="Arial"/>
                <a:ea typeface="Arial"/>
                <a:cs typeface="Arial"/>
              </a:defRPr>
            </a:pPr>
            <a:r>
              <a:rPr sz="3225" b="1">
                <a:solidFill>
                  <a:srgbClr val="102638"/>
                </a:solidFill>
                <a:latin typeface="Arial"/>
                <a:ea typeface="Arial"/>
                <a:cs typeface="Arial"/>
              </a:rPr>
              <a:t>Module B: portfolio stress test</a:t>
            </a:r>
          </a:p>
        </p:txBody>
      </p:sp>
      <p:sp>
        <p:nvSpPr>
          <p:cNvPr id="2" name="">
            <a:extLst xmlns:a="http://schemas.openxmlformats.org/drawingml/2006/main">
              <a:ext uri="{FF2B5EF4-FFF2-40B4-BE49-F238E27FC236}">
                <a16:creationId xmlns:a16="http://schemas.microsoft.com/office/drawing/2014/main" id="{ACB338BB-052F-4CF7-B5E4-E47B260C34CA}"/>
              </a:ext>
            </a:extLst>
          </p:cNvPr>
          <p:cNvSpPr>
            <a:spLocks xmlns:a="http://schemas.openxmlformats.org/drawingml/2006/main" noGrp="1"/>
          </p:cNvSpPr>
          <p:nvPr/>
        </p:nvSpPr>
        <p:spPr>
          <a:xfrm xmlns:a="http://schemas.openxmlformats.org/drawingml/2006/main">
            <a:off x="704850" y="1666875"/>
            <a:ext cx="45720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31485B"/>
                </a:solidFill>
                <a:latin typeface="Arial"/>
                <a:ea typeface="Arial"/>
                <a:cs typeface="Arial"/>
              </a:defRPr>
            </a:defPPr>
          </a:lstStyle>
          <a:p xmlns:a="http://schemas.openxmlformats.org/drawingml/2006/main">
            <a:pPr>
              <a:defRPr sz="2175" b="0">
                <a:solidFill>
                  <a:srgbClr val="31485B"/>
                </a:solidFill>
                <a:latin typeface="Arial"/>
                <a:ea typeface="Arial"/>
                <a:cs typeface="Arial"/>
              </a:defRPr>
            </a:pPr>
            <a:r>
              <a:rPr sz="2175" b="0">
                <a:solidFill>
                  <a:srgbClr val="31485B"/>
                </a:solidFill>
                <a:latin typeface="Arial"/>
                <a:ea typeface="Arial"/>
                <a:cs typeface="Arial"/>
              </a:rPr>
              <a:t>Baseline: $10.00 million</a:t>
            </a:r>
          </a:p>
          <a:p xmlns:a="http://schemas.openxmlformats.org/drawingml/2006/main">
            <a:pPr>
              <a:defRPr sz="2175" b="0">
                <a:solidFill>
                  <a:srgbClr val="31485B"/>
                </a:solidFill>
                <a:latin typeface="Arial"/>
                <a:ea typeface="Arial"/>
                <a:cs typeface="Arial"/>
              </a:defRPr>
            </a:pPr>
            <a:r>
              <a:rPr sz="2175" b="0">
                <a:solidFill>
                  <a:srgbClr val="31485B"/>
                </a:solidFill>
                <a:latin typeface="Arial"/>
                <a:ea typeface="Arial"/>
                <a:cs typeface="Arial"/>
              </a:rPr>
              <a:t>After stress: $8.98 million</a:t>
            </a:r>
          </a:p>
          <a:p xmlns:a="http://schemas.openxmlformats.org/drawingml/2006/main">
            <a:pPr>
              <a:defRPr sz="2175" b="0">
                <a:solidFill>
                  <a:srgbClr val="31485B"/>
                </a:solidFill>
                <a:latin typeface="Arial"/>
                <a:ea typeface="Arial"/>
                <a:cs typeface="Arial"/>
              </a:defRPr>
            </a:pPr>
            <a:r>
              <a:rPr sz="2175" b="0">
                <a:solidFill>
                  <a:srgbClr val="31485B"/>
                </a:solidFill>
                <a:latin typeface="Arial"/>
                <a:ea typeface="Arial"/>
                <a:cs typeface="Arial"/>
              </a:rPr>
              <a:t>Loss: $1.02 million (10.2%)</a:t>
            </a:r>
          </a:p>
          <a:p xmlns:a="http://schemas.openxmlformats.org/drawingml/2006/main">
            <a:r>
              <a:t/>
            </a:r>
          </a:p>
          <a:p xmlns:a="http://schemas.openxmlformats.org/drawingml/2006/main">
            <a:pPr>
              <a:defRPr sz="2175" b="0">
                <a:solidFill>
                  <a:srgbClr val="31485B"/>
                </a:solidFill>
                <a:latin typeface="Arial"/>
                <a:ea typeface="Arial"/>
                <a:cs typeface="Arial"/>
              </a:defRPr>
            </a:pPr>
            <a:r>
              <a:rPr sz="2175" b="0">
                <a:solidFill>
                  <a:srgbClr val="31485B"/>
                </a:solidFill>
                <a:latin typeface="Arial"/>
                <a:ea typeface="Arial"/>
                <a:cs typeface="Arial"/>
              </a:rPr>
              <a:t>War replay: impact 9 &gt; 7</a:t>
            </a:r>
          </a:p>
          <a:p xmlns:a="http://schemas.openxmlformats.org/drawingml/2006/main">
            <a:pPr>
              <a:defRPr sz="2175" b="0">
                <a:solidFill>
                  <a:srgbClr val="31485B"/>
                </a:solidFill>
                <a:latin typeface="Arial"/>
                <a:ea typeface="Arial"/>
                <a:cs typeface="Arial"/>
              </a:defRPr>
            </a:pPr>
            <a:r>
              <a:rPr sz="2175" b="0">
                <a:solidFill>
                  <a:srgbClr val="31485B"/>
                </a:solidFill>
                <a:latin typeface="Arial"/>
                <a:ea typeface="Arial"/>
                <a:cs typeface="Arial"/>
              </a:rPr>
              <a:t>Every run starts from baseline</a:t>
            </a:r>
          </a:p>
        </p:txBody>
      </p:sp>
      <p:sp>
        <p:nvSpPr>
          <p:cNvPr id="3" name="">
            <a:extLst xmlns:a="http://schemas.openxmlformats.org/drawingml/2006/main">
              <a:ext uri="{FF2B5EF4-FFF2-40B4-BE49-F238E27FC236}">
                <a16:creationId xmlns:a16="http://schemas.microsoft.com/office/drawing/2014/main" id="{D65619F9-F0F5-4A65-9668-6B87B1757AE4}"/>
              </a:ext>
            </a:extLst>
          </p:cNvPr>
          <p:cNvSpPr>
            <a:spLocks xmlns:a="http://schemas.openxmlformats.org/drawingml/2006/main" noGrp="1"/>
          </p:cNvSpPr>
          <p:nvPr/>
        </p:nvSpPr>
        <p:spPr>
          <a:xfrm xmlns:a="http://schemas.openxmlformats.org/drawingml/2006/main">
            <a:off x="704850" y="633412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4798B"/>
                </a:solidFill>
                <a:latin typeface="Arial"/>
                <a:ea typeface="Arial"/>
                <a:cs typeface="Arial"/>
              </a:defRPr>
            </a:defPPr>
          </a:lstStyle>
          <a:p xmlns:a="http://schemas.openxmlformats.org/drawingml/2006/main">
            <a:pPr>
              <a:defRPr sz="1350" b="0">
                <a:solidFill>
                  <a:srgbClr val="64798B"/>
                </a:solidFill>
                <a:latin typeface="Arial"/>
                <a:ea typeface="Arial"/>
                <a:cs typeface="Arial"/>
              </a:defRPr>
            </a:pPr>
            <a:r>
              <a:rPr sz="1350" b="0">
                <a:solidFill>
                  <a:srgbClr val="64798B"/>
                </a:solidFill>
                <a:latin typeface="Arial"/>
                <a:ea typeface="Arial"/>
                <a:cs typeface="Arial"/>
              </a:rPr>
              <a:t>RiskRadar   /   Aarohi Chadha   /   IGDTUW</a:t>
            </a:r>
          </a:p>
        </p:txBody>
      </p:sp>
      <p:graphicFrame>
        <p:nvGraphicFramePr>
          <p:cNvPr id="4" name="Chart">
            <a:extLst xmlns:a="http://schemas.openxmlformats.org/drawingml/2006/main">
              <a:ext uri="{FF2B5EF4-FFF2-40B4-BE49-F238E27FC236}">
                <a16:creationId xmlns:a16="http://schemas.microsoft.com/office/drawing/2014/main" id="{5205CBF5-358F-4423-A7B0-E523563D5DD3}"/>
              </a:ext>
            </a:extLst>
          </p:cNvPr>
          <p:cNvGraphicFramePr/>
          <p:nvPr/>
        </p:nvGraphicFramePr>
        <p:xfrm>
          <a:off xmlns:a="http://schemas.openxmlformats.org/drawingml/2006/main" x="5810250" y="1762125"/>
          <a:ext xmlns:a="http://schemas.openxmlformats.org/drawingml/2006/main" cx="5619750" cy="3429000"/>
        </p:xfrm>
        <a:graphic xmlns:a="http://schemas.openxmlformats.org/drawingml/2006/main">
          <a:graphicData uri="http://schemas.openxmlformats.org/drawingml/2006/chart">
            <c:chart xmlns:r="http://schemas.openxmlformats.org/officeDocument/2006/relationships" xmlns:c="http://schemas.openxmlformats.org/drawingml/2006/chart" r:id="R2c7acde23d784b58"/>
          </a:graphicData>
        </a:graphic>
      </p:graphicFrame>
      <p:sp>
        <p:nvSpPr>
          <p:cNvPr id="5" name="">
            <a:extLst xmlns:a="http://schemas.openxmlformats.org/drawingml/2006/main">
              <a:ext uri="{FF2B5EF4-FFF2-40B4-BE49-F238E27FC236}">
                <a16:creationId xmlns:a16="http://schemas.microsoft.com/office/drawing/2014/main" id="{E182AA1F-8262-41B2-B4A0-15349A4D6FC8}"/>
              </a:ext>
            </a:extLst>
          </p:cNvPr>
          <p:cNvSpPr>
            <a:spLocks xmlns:a="http://schemas.openxmlformats.org/drawingml/2006/main" noGrp="1"/>
          </p:cNvSpPr>
          <p:nvPr/>
        </p:nvSpPr>
        <p:spPr>
          <a:xfrm xmlns:a="http://schemas.openxmlformats.org/drawingml/2006/main">
            <a:off x="704850" y="5572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4798B"/>
                </a:solidFill>
                <a:latin typeface="Arial"/>
                <a:ea typeface="Arial"/>
                <a:cs typeface="Arial"/>
              </a:defRPr>
            </a:defPPr>
          </a:lstStyle>
          <a:p xmlns:a="http://schemas.openxmlformats.org/drawingml/2006/main">
            <a:pPr>
              <a:defRPr sz="1725" b="0">
                <a:solidFill>
                  <a:srgbClr val="64798B"/>
                </a:solidFill>
                <a:latin typeface="Arial"/>
                <a:ea typeface="Arial"/>
                <a:cs typeface="Arial"/>
              </a:defRPr>
            </a:pPr>
            <a:r>
              <a:rPr sz="1725" b="0">
                <a:solidFill>
                  <a:srgbClr val="64798B"/>
                </a:solidFill>
                <a:latin typeface="Arial"/>
                <a:ea typeface="Arial"/>
                <a:cs typeface="Arial"/>
              </a:rPr>
              <a:t>Assumed equity shock -10%, rate shock +2 pp, credit-spread shock +1.5 pp</a:t>
            </a:r>
          </a:p>
        </p:txBody>
      </p:sp>
    </p:spTree>
    <p:extLst>
      <p:ext uri="{BB962C8B-B14F-4D97-AF65-F5344CB8AC3E}">
        <p14:creationId xmlns:p14="http://schemas.microsoft.com/office/powerpoint/2010/main" val="803375498"/>
      </p:ext>
    </p:extLst>
  </p:cSld>
</p:sld>
</file>

<file path=ppt/slides/slide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71FF11A-B2AC-48FB-BB89-1B62CC0CA08A}"/>
              </a:ext>
            </a:extLst>
          </p:cNvPr>
          <p:cNvSpPr>
            <a:spLocks xmlns:a="http://schemas.openxmlformats.org/drawingml/2006/main" noGrp="1"/>
          </p:cNvSpPr>
          <p:nvPr/>
        </p:nvSpPr>
        <p:spPr>
          <a:xfrm xmlns:a="http://schemas.openxmlformats.org/drawingml/2006/main">
            <a:off x="666750" y="52387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638"/>
                </a:solidFill>
                <a:latin typeface="Arial"/>
                <a:ea typeface="Arial"/>
                <a:cs typeface="Arial"/>
              </a:defRPr>
            </a:defPPr>
          </a:lstStyle>
          <a:p xmlns:a="http://schemas.openxmlformats.org/drawingml/2006/main">
            <a:pPr>
              <a:defRPr sz="3225" b="1">
                <a:solidFill>
                  <a:srgbClr val="102638"/>
                </a:solidFill>
                <a:latin typeface="Arial"/>
                <a:ea typeface="Arial"/>
                <a:cs typeface="Arial"/>
              </a:defRPr>
            </a:pPr>
            <a:r>
              <a:rPr sz="3225" b="1">
                <a:solidFill>
                  <a:srgbClr val="102638"/>
                </a:solidFill>
                <a:latin typeface="Arial"/>
                <a:ea typeface="Arial"/>
                <a:cs typeface="Arial"/>
              </a:rPr>
              <a:t>Module A: mock index rebalancing</a:t>
            </a:r>
          </a:p>
        </p:txBody>
      </p:sp>
      <p:sp>
        <p:nvSpPr>
          <p:cNvPr id="2" name="">
            <a:extLst xmlns:a="http://schemas.openxmlformats.org/drawingml/2006/main">
              <a:ext uri="{FF2B5EF4-FFF2-40B4-BE49-F238E27FC236}">
                <a16:creationId xmlns:a16="http://schemas.microsoft.com/office/drawing/2014/main" id="{497E4E94-43DB-4397-95D6-956662FB57E3}"/>
              </a:ext>
            </a:extLst>
          </p:cNvPr>
          <p:cNvSpPr>
            <a:spLocks xmlns:a="http://schemas.openxmlformats.org/drawingml/2006/main" noGrp="1"/>
          </p:cNvSpPr>
          <p:nvPr/>
        </p:nvSpPr>
        <p:spPr>
          <a:xfrm xmlns:a="http://schemas.openxmlformats.org/drawingml/2006/main">
            <a:off x="704850" y="1524000"/>
            <a:ext cx="10668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31485B"/>
                </a:solidFill>
                <a:latin typeface="Arial"/>
                <a:ea typeface="Arial"/>
                <a:cs typeface="Arial"/>
              </a:defRPr>
            </a:defPPr>
          </a:lstStyle>
          <a:p xmlns:a="http://schemas.openxmlformats.org/drawingml/2006/main">
            <a:pPr>
              <a:defRPr sz="2175" b="0">
                <a:solidFill>
                  <a:srgbClr val="31485B"/>
                </a:solidFill>
                <a:latin typeface="Arial"/>
                <a:ea typeface="Arial"/>
                <a:cs typeface="Arial"/>
              </a:defRPr>
            </a:pPr>
            <a:r>
              <a:rPr sz="2175" b="0">
                <a:solidFill>
                  <a:srgbClr val="31485B"/>
                </a:solidFill>
                <a:latin typeface="Arial"/>
                <a:ea typeface="Arial"/>
                <a:cs typeface="Arial"/>
              </a:rPr>
              <a:t>Ten equal starting positions, then normalized sentiment weights</a:t>
            </a:r>
          </a:p>
          <a:p xmlns:a="http://schemas.openxmlformats.org/drawingml/2006/main">
            <a:pPr>
              <a:defRPr sz="2175" b="0">
                <a:solidFill>
                  <a:srgbClr val="31485B"/>
                </a:solidFill>
                <a:latin typeface="Arial"/>
                <a:ea typeface="Arial"/>
                <a:cs typeface="Arial"/>
              </a:defRPr>
            </a:pPr>
            <a:r>
              <a:rPr sz="2175" b="0">
                <a:solidFill>
                  <a:srgbClr val="31485B"/>
                </a:solidFill>
                <a:latin typeface="Arial"/>
                <a:ea typeface="Arial"/>
                <a:cs typeface="Arial"/>
              </a:rPr>
              <a:t>Raw weight = 1 + 0.5 × latest company sentiment</a:t>
            </a:r>
          </a:p>
          <a:p xmlns:a="http://schemas.openxmlformats.org/drawingml/2006/main">
            <a:pPr>
              <a:defRPr sz="2175" b="0">
                <a:solidFill>
                  <a:srgbClr val="31485B"/>
                </a:solidFill>
                <a:latin typeface="Arial"/>
                <a:ea typeface="Arial"/>
                <a:cs typeface="Arial"/>
              </a:defRPr>
            </a:pPr>
            <a:r>
              <a:rPr sz="2175" b="0">
                <a:solidFill>
                  <a:srgbClr val="31485B"/>
                </a:solidFill>
                <a:latin typeface="Arial"/>
                <a:ea typeface="Arial"/>
                <a:cs typeface="Arial"/>
              </a:rPr>
              <a:t>History and JSON export make changing allocations inspectable</a:t>
            </a:r>
          </a:p>
        </p:txBody>
      </p:sp>
      <p:sp>
        <p:nvSpPr>
          <p:cNvPr id="3" name="">
            <a:extLst xmlns:a="http://schemas.openxmlformats.org/drawingml/2006/main">
              <a:ext uri="{FF2B5EF4-FFF2-40B4-BE49-F238E27FC236}">
                <a16:creationId xmlns:a16="http://schemas.microsoft.com/office/drawing/2014/main" id="{5E712925-9043-435F-B0C4-F3470278AA15}"/>
              </a:ext>
            </a:extLst>
          </p:cNvPr>
          <p:cNvSpPr>
            <a:spLocks xmlns:a="http://schemas.openxmlformats.org/drawingml/2006/main" noGrp="1"/>
          </p:cNvSpPr>
          <p:nvPr/>
        </p:nvSpPr>
        <p:spPr>
          <a:xfrm xmlns:a="http://schemas.openxmlformats.org/drawingml/2006/main">
            <a:off x="704850" y="633412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4798B"/>
                </a:solidFill>
                <a:latin typeface="Arial"/>
                <a:ea typeface="Arial"/>
                <a:cs typeface="Arial"/>
              </a:defRPr>
            </a:defPPr>
          </a:lstStyle>
          <a:p xmlns:a="http://schemas.openxmlformats.org/drawingml/2006/main">
            <a:pPr>
              <a:defRPr sz="1350" b="0">
                <a:solidFill>
                  <a:srgbClr val="64798B"/>
                </a:solidFill>
                <a:latin typeface="Arial"/>
                <a:ea typeface="Arial"/>
                <a:cs typeface="Arial"/>
              </a:defRPr>
            </a:pPr>
            <a:r>
              <a:rPr sz="1350" b="0">
                <a:solidFill>
                  <a:srgbClr val="64798B"/>
                </a:solidFill>
                <a:latin typeface="Arial"/>
                <a:ea typeface="Arial"/>
                <a:cs typeface="Arial"/>
              </a:rPr>
              <a:t>RiskRadar   /   Aarohi Chadha   /   IGDTUW</a:t>
            </a:r>
          </a:p>
        </p:txBody>
      </p:sp>
      <p:graphicFrame>
        <p:nvGraphicFramePr>
          <p:cNvPr id="4" name="Chart">
            <a:extLst xmlns:a="http://schemas.openxmlformats.org/drawingml/2006/main">
              <a:ext uri="{FF2B5EF4-FFF2-40B4-BE49-F238E27FC236}">
                <a16:creationId xmlns:a16="http://schemas.microsoft.com/office/drawing/2014/main" id="{D63FF14C-6109-4A83-BF0F-8382D0FB5039}"/>
              </a:ext>
            </a:extLst>
          </p:cNvPr>
          <p:cNvGraphicFramePr/>
          <p:nvPr/>
        </p:nvGraphicFramePr>
        <p:xfrm>
          <a:off xmlns:a="http://schemas.openxmlformats.org/drawingml/2006/main" x="762000" y="3048000"/>
          <a:ext xmlns:a="http://schemas.openxmlformats.org/drawingml/2006/main" cx="10572750" cy="2667000"/>
        </p:xfrm>
        <a:graphic xmlns:a="http://schemas.openxmlformats.org/drawingml/2006/main">
          <a:graphicData uri="http://schemas.openxmlformats.org/drawingml/2006/chart">
            <c:chart xmlns:r="http://schemas.openxmlformats.org/officeDocument/2006/relationships" xmlns:c="http://schemas.openxmlformats.org/drawingml/2006/chart" r:id="Rc62d20e445024767"/>
          </a:graphicData>
        </a:graphic>
      </p:graphicFrame>
    </p:spTree>
    <p:extLst>
      <p:ext uri="{BB962C8B-B14F-4D97-AF65-F5344CB8AC3E}">
        <p14:creationId xmlns:p14="http://schemas.microsoft.com/office/powerpoint/2010/main" val="2068924412"/>
      </p:ext>
    </p:extLst>
  </p:cSld>
</p:sld>
</file>

<file path=ppt/slides/slide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0E5D5B1-C08C-415E-AF29-9A68CC9E35C2}"/>
              </a:ext>
            </a:extLst>
          </p:cNvPr>
          <p:cNvSpPr>
            <a:spLocks xmlns:a="http://schemas.openxmlformats.org/drawingml/2006/main" noGrp="1"/>
          </p:cNvSpPr>
          <p:nvPr/>
        </p:nvSpPr>
        <p:spPr>
          <a:xfrm xmlns:a="http://schemas.openxmlformats.org/drawingml/2006/main">
            <a:off x="666750" y="52387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638"/>
                </a:solidFill>
                <a:latin typeface="Arial"/>
                <a:ea typeface="Arial"/>
                <a:cs typeface="Arial"/>
              </a:defRPr>
            </a:defPPr>
          </a:lstStyle>
          <a:p xmlns:a="http://schemas.openxmlformats.org/drawingml/2006/main">
            <a:pPr>
              <a:defRPr sz="3225" b="1">
                <a:solidFill>
                  <a:srgbClr val="102638"/>
                </a:solidFill>
                <a:latin typeface="Arial"/>
                <a:ea typeface="Arial"/>
                <a:cs typeface="Arial"/>
              </a:defRPr>
            </a:pPr>
            <a:r>
              <a:rPr sz="3225" b="1">
                <a:solidFill>
                  <a:srgbClr val="102638"/>
                </a:solidFill>
                <a:latin typeface="Arial"/>
                <a:ea typeface="Arial"/>
                <a:cs typeface="Arial"/>
              </a:rPr>
              <a:t>Domain impact, limits and next steps</a:t>
            </a:r>
          </a:p>
        </p:txBody>
      </p:sp>
      <p:sp>
        <p:nvSpPr>
          <p:cNvPr id="2" name="">
            <a:extLst xmlns:a="http://schemas.openxmlformats.org/drawingml/2006/main">
              <a:ext uri="{FF2B5EF4-FFF2-40B4-BE49-F238E27FC236}">
                <a16:creationId xmlns:a16="http://schemas.microsoft.com/office/drawing/2014/main" id="{133D95CC-9470-416C-A13E-1BCE1AD063F2}"/>
              </a:ext>
            </a:extLst>
          </p:cNvPr>
          <p:cNvSpPr>
            <a:spLocks xmlns:a="http://schemas.openxmlformats.org/drawingml/2006/main" noGrp="1"/>
          </p:cNvSpPr>
          <p:nvPr/>
        </p:nvSpPr>
        <p:spPr>
          <a:xfrm xmlns:a="http://schemas.openxmlformats.org/drawingml/2006/main">
            <a:off x="704850" y="1666875"/>
            <a:ext cx="105727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31485B"/>
                </a:solidFill>
                <a:latin typeface="Arial"/>
                <a:ea typeface="Arial"/>
                <a:cs typeface="Arial"/>
              </a:defRPr>
            </a:defPPr>
          </a:lstStyle>
          <a:p xmlns:a="http://schemas.openxmlformats.org/drawingml/2006/main">
            <a:pPr>
              <a:defRPr sz="2175" b="0">
                <a:solidFill>
                  <a:srgbClr val="31485B"/>
                </a:solidFill>
                <a:latin typeface="Arial"/>
                <a:ea typeface="Arial"/>
                <a:cs typeface="Arial"/>
              </a:defRPr>
            </a:pPr>
            <a:r>
              <a:rPr sz="2175" b="0">
                <a:solidFill>
                  <a:srgbClr val="31485B"/>
                </a:solidFill>
                <a:latin typeface="Arial"/>
                <a:ea typeface="Arial"/>
                <a:cs typeface="Arial"/>
              </a:rPr>
              <a:t>News triage: one inspectable format preserves source and evidence</a:t>
            </a:r>
          </a:p>
          <a:p xmlns:a="http://schemas.openxmlformats.org/drawingml/2006/main">
            <a:pPr>
              <a:defRPr sz="2175" b="0">
                <a:solidFill>
                  <a:srgbClr val="31485B"/>
                </a:solidFill>
                <a:latin typeface="Arial"/>
                <a:ea typeface="Arial"/>
                <a:cs typeface="Arial"/>
              </a:defRPr>
            </a:pPr>
            <a:r>
              <a:rPr sz="2175" b="0">
                <a:solidFill>
                  <a:srgbClr val="31485B"/>
                </a:solidFill>
                <a:latin typeface="Arial"/>
                <a:ea typeface="Arial"/>
                <a:cs typeface="Arial"/>
              </a:rPr>
              <a:t>Stress view: relate event assumptions to asset-level losses</a:t>
            </a:r>
          </a:p>
          <a:p xmlns:a="http://schemas.openxmlformats.org/drawingml/2006/main">
            <a:pPr>
              <a:defRPr sz="2175" b="0">
                <a:solidFill>
                  <a:srgbClr val="31485B"/>
                </a:solidFill>
                <a:latin typeface="Arial"/>
                <a:ea typeface="Arial"/>
                <a:cs typeface="Arial"/>
              </a:defRPr>
            </a:pPr>
            <a:r>
              <a:rPr sz="2175" b="0">
                <a:solidFill>
                  <a:srgbClr val="31485B"/>
                </a:solidFill>
                <a:latin typeface="Arial"/>
                <a:ea typeface="Arial"/>
                <a:cs typeface="Arial"/>
              </a:rPr>
              <a:t>Mock index: demonstrate a second consumer of the same signal</a:t>
            </a:r>
          </a:p>
          <a:p xmlns:a="http://schemas.openxmlformats.org/drawingml/2006/main">
            <a:r>
              <a:t/>
            </a:r>
          </a:p>
          <a:p xmlns:a="http://schemas.openxmlformats.org/drawingml/2006/main">
            <a:pPr>
              <a:defRPr sz="2175" b="0">
                <a:solidFill>
                  <a:srgbClr val="31485B"/>
                </a:solidFill>
                <a:latin typeface="Arial"/>
                <a:ea typeface="Arial"/>
                <a:cs typeface="Arial"/>
              </a:defRPr>
            </a:pPr>
            <a:r>
              <a:rPr sz="2175" b="0">
                <a:solidFill>
                  <a:srgbClr val="31485B"/>
                </a:solidFill>
                <a:latin typeface="Arial"/>
                <a:ea typeface="Arial"/>
                <a:cs typeface="Arial"/>
              </a:rPr>
              <a:t>Limits: simple rules, sentiment domain shift and linear valuation</a:t>
            </a:r>
          </a:p>
          <a:p xmlns:a="http://schemas.openxmlformats.org/drawingml/2006/main">
            <a:pPr>
              <a:defRPr sz="2175" b="0">
                <a:solidFill>
                  <a:srgbClr val="31485B"/>
                </a:solidFill>
                <a:latin typeface="Arial"/>
                <a:ea typeface="Arial"/>
                <a:cs typeface="Arial"/>
              </a:defRPr>
            </a:pPr>
            <a:r>
              <a:rPr sz="2175" b="0">
                <a:solidFill>
                  <a:srgbClr val="31485B"/>
                </a:solidFill>
                <a:latin typeface="Arial"/>
                <a:ea typeface="Arial"/>
                <a:cs typeface="Arial"/>
              </a:rPr>
              <a:t>Next: temporal evaluation and market-calibrated severity/shocks</a:t>
            </a:r>
          </a:p>
          <a:p xmlns:a="http://schemas.openxmlformats.org/drawingml/2006/main">
            <a:r>
              <a:t/>
            </a:r>
          </a:p>
          <a:p xmlns:a="http://schemas.openxmlformats.org/drawingml/2006/main">
            <a:pPr>
              <a:defRPr sz="2175" b="0">
                <a:solidFill>
                  <a:srgbClr val="31485B"/>
                </a:solidFill>
                <a:latin typeface="Arial"/>
                <a:ea typeface="Arial"/>
                <a:cs typeface="Arial"/>
              </a:defRPr>
            </a:pPr>
            <a:r>
              <a:rPr sz="2175" b="0">
                <a:solidFill>
                  <a:srgbClr val="31485B"/>
                </a:solidFill>
                <a:latin typeface="Arial"/>
                <a:ea typeface="Arial"/>
                <a:cs typeface="Arial"/>
              </a:rPr>
              <a:t>Public code, deck and data accompany the working dashboard</a:t>
            </a:r>
          </a:p>
        </p:txBody>
      </p:sp>
      <p:sp>
        <p:nvSpPr>
          <p:cNvPr id="3" name="">
            <a:extLst xmlns:a="http://schemas.openxmlformats.org/drawingml/2006/main">
              <a:ext uri="{FF2B5EF4-FFF2-40B4-BE49-F238E27FC236}">
                <a16:creationId xmlns:a16="http://schemas.microsoft.com/office/drawing/2014/main" id="{803A0C27-B9EF-4382-AF3D-A5380E3693F6}"/>
              </a:ext>
            </a:extLst>
          </p:cNvPr>
          <p:cNvSpPr>
            <a:spLocks xmlns:a="http://schemas.openxmlformats.org/drawingml/2006/main" noGrp="1"/>
          </p:cNvSpPr>
          <p:nvPr/>
        </p:nvSpPr>
        <p:spPr>
          <a:xfrm xmlns:a="http://schemas.openxmlformats.org/drawingml/2006/main">
            <a:off x="704850" y="633412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4798B"/>
                </a:solidFill>
                <a:latin typeface="Arial"/>
                <a:ea typeface="Arial"/>
                <a:cs typeface="Arial"/>
              </a:defRPr>
            </a:defPPr>
          </a:lstStyle>
          <a:p xmlns:a="http://schemas.openxmlformats.org/drawingml/2006/main">
            <a:pPr>
              <a:defRPr sz="1350" b="0">
                <a:solidFill>
                  <a:srgbClr val="64798B"/>
                </a:solidFill>
                <a:latin typeface="Arial"/>
                <a:ea typeface="Arial"/>
                <a:cs typeface="Arial"/>
              </a:defRPr>
            </a:pPr>
            <a:r>
              <a:rPr sz="1350" b="0">
                <a:solidFill>
                  <a:srgbClr val="64798B"/>
                </a:solidFill>
                <a:latin typeface="Arial"/>
                <a:ea typeface="Arial"/>
                <a:cs typeface="Arial"/>
              </a:rPr>
              <a:t>RiskRadar   /   Aarohi Chadha   /   IGDTUW</a:t>
            </a:r>
          </a:p>
        </p:txBody>
      </p:sp>
    </p:spTree>
    <p:extLst>
      <p:ext uri="{BB962C8B-B14F-4D97-AF65-F5344CB8AC3E}">
        <p14:creationId xmlns:p14="http://schemas.microsoft.com/office/powerpoint/2010/main" val="13728407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Aarohi Chadha (aarohichadha)</dc:creator>
  <lastModifiedBy>Aarohi Chadha (aarohichadha)</lastModifiedBy>
  <dc:title>RiskRadar - S&amp;P Global &amp; Crisil Campus Hackathon</dc:title>
  <dcterms:created xsi:type="dcterms:W3CDTF">2026-10-11T07:01:48.5920000Z</dcterms:created>
  <dcterms:modified xsi:type="dcterms:W3CDTF">2026-10-11T07:01:48.5920000Z</dcterms:modified>
</coreProperties>
</file>